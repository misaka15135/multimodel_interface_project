
<file path=[Content_Types].xml><?xml version="1.0" encoding="utf-8"?>
<Types xmlns="http://schemas.openxmlformats.org/package/2006/content-types">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70" r:id="rId19"/>
    <p:sldId id="271" r:id="rId20"/>
    <p:sldId id="277" r:id="rId21"/>
    <p:sldId id="272" r:id="rId22"/>
    <p:sldId id="273" r:id="rId23"/>
    <p:sldId id="274" r:id="rId24"/>
    <p:sldId id="275" r:id="rId25"/>
    <p:sldId id="27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800" userDrawn="1">
          <p15:clr>
            <a:srgbClr val="747775"/>
          </p15:clr>
        </p15:guide>
        <p15:guide id="2" pos="280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800"/>
        <p:guide pos="2808"/>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大家好，我们是</a:t>
            </a:r>
            <a:r>
              <a:rPr lang="zh-CN" altLang="en-US" sz="1400" b="0" i="0" u="none" strike="noStrike">
                <a:solidFill>
                  <a:srgbClr val="000000"/>
                </a:solidFill>
              </a:rPr>
              <a:t>第九</a:t>
            </a:r>
            <a:r>
              <a:rPr lang="en-US" sz="1400" b="0" i="0" u="none" strike="noStrike">
                <a:solidFill>
                  <a:srgbClr val="000000"/>
                </a:solidFill>
              </a:rPr>
              <a:t>小组。</a:t>
            </a:r>
            <a:r>
              <a:rPr lang="zh-CN" altLang="en-US" sz="1400" b="0" i="0" u="none" strike="noStrike">
                <a:solidFill>
                  <a:srgbClr val="000000"/>
                </a:solidFill>
              </a:rPr>
              <a:t>我们课程项目的题目是</a:t>
            </a:r>
            <a:r>
              <a:rPr lang="en-US" sz="1400" b="0" i="0" u="none" strike="noStrike">
                <a:solidFill>
                  <a:srgbClr val="000000"/>
                </a:solidFill>
              </a:rPr>
              <a:t>——</a:t>
            </a:r>
            <a:r>
              <a:rPr lang="en-US" b="1">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多模态网页交互插件--</a:t>
            </a:r>
            <a:r>
              <a:rPr lang="zh-CN" altLang="en-US">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从三维</a:t>
            </a:r>
            <a:r>
              <a:rPr lang="en-US">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出发的新一代无障碍浏览体验.  </a:t>
            </a:r>
            <a:r>
              <a:rPr lang="zh-CN" altLang="en-US">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本项目旨在设计一款插件</a:t>
            </a:r>
            <a:r>
              <a:rPr lang="en-US" altLang="zh-CN">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000000"/>
                </a:solidFill>
              </a:rPr>
              <a:t>它将通过声音,手势</a:t>
            </a:r>
            <a:r>
              <a:rPr lang="zh-CN" altLang="en-US" sz="1400" b="0" i="0" u="none" strike="noStrike">
                <a:solidFill>
                  <a:srgbClr val="000000"/>
                </a:solidFill>
              </a:rPr>
              <a:t>以及可能的眼动进行交互</a:t>
            </a:r>
            <a:r>
              <a:rPr lang="en-US" sz="1400" b="0" i="0" u="none" strike="noStrike">
                <a:solidFill>
                  <a:srgbClr val="000000"/>
                </a:solidFill>
              </a:rPr>
              <a:t>，为用户带来一种全新的、无障碍的浏览体验。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这是本次汇报的</a:t>
            </a:r>
            <a:r>
              <a:rPr lang="zh-CN" altLang="en-US" sz="1400" b="0" i="0" u="none" strike="noStrike">
                <a:solidFill>
                  <a:srgbClr val="000000"/>
                </a:solidFill>
              </a:rPr>
              <a:t>目录</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进入第一部分：背景介绍。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首先，我们来看传统</a:t>
            </a:r>
            <a:r>
              <a:rPr lang="zh-CN" altLang="en-US" sz="1400" b="0" i="0" u="none" strike="noStrike">
                <a:solidFill>
                  <a:srgbClr val="000000"/>
                </a:solidFill>
              </a:rPr>
              <a:t>的网页</a:t>
            </a:r>
            <a:r>
              <a:rPr lang="en-US" sz="1400" b="0" i="0" u="none" strike="noStrike">
                <a:solidFill>
                  <a:srgbClr val="000000"/>
                </a:solidFill>
              </a:rPr>
              <a:t>交互的局限性。GUI诞生以来，</a:t>
            </a:r>
            <a:r>
              <a:rPr lang="zh-CN" altLang="en-US" sz="1400" b="0" i="0" u="none" strike="noStrike">
                <a:solidFill>
                  <a:srgbClr val="000000"/>
                </a:solidFill>
              </a:rPr>
              <a:t>使用键盘</a:t>
            </a:r>
            <a:r>
              <a:rPr lang="en-US" altLang="zh-CN" sz="1400" b="0" i="0" u="none" strike="noStrike">
                <a:solidFill>
                  <a:srgbClr val="000000"/>
                </a:solidFill>
              </a:rPr>
              <a:t>,</a:t>
            </a:r>
            <a:r>
              <a:rPr lang="zh-CN" altLang="en-US" sz="1400" b="0" i="0" u="none" strike="noStrike">
                <a:solidFill>
                  <a:srgbClr val="000000"/>
                </a:solidFill>
              </a:rPr>
              <a:t>鼠标</a:t>
            </a:r>
            <a:r>
              <a:rPr lang="en-US" altLang="zh-CN" sz="1400" b="0" i="0" u="none" strike="noStrike">
                <a:solidFill>
                  <a:srgbClr val="000000"/>
                </a:solidFill>
              </a:rPr>
              <a:t>,</a:t>
            </a:r>
            <a:r>
              <a:rPr lang="zh-CN" altLang="en-US" sz="1400" b="0" i="0" u="none" strike="noStrike">
                <a:solidFill>
                  <a:srgbClr val="000000"/>
                </a:solidFill>
              </a:rPr>
              <a:t>显示屏的交互在大多数场景中足够便捷使用</a:t>
            </a:r>
            <a:r>
              <a:rPr lang="en-US" altLang="zh-CN" sz="1400" b="0" i="0" u="none" strike="noStrike">
                <a:solidFill>
                  <a:srgbClr val="000000"/>
                </a:solidFill>
              </a:rPr>
              <a:t>, </a:t>
            </a:r>
            <a:r>
              <a:rPr lang="zh-CN" altLang="en-US" sz="1400" b="0" i="0" u="none" strike="noStrike">
                <a:solidFill>
                  <a:srgbClr val="000000"/>
                </a:solidFill>
              </a:rPr>
              <a:t>选择这种默认交互方式成为了一种思维定式</a:t>
            </a:r>
            <a:r>
              <a:rPr lang="en-US" altLang="zh-CN" sz="1400" b="0" i="0" u="none" strike="noStrike">
                <a:solidFill>
                  <a:srgbClr val="000000"/>
                </a:solidFill>
              </a:rPr>
              <a:t>, </a:t>
            </a:r>
            <a:r>
              <a:rPr lang="zh-CN" altLang="en-US" sz="1400" b="0" i="0" u="none" strike="noStrike">
                <a:solidFill>
                  <a:srgbClr val="000000"/>
                </a:solidFill>
              </a:rPr>
              <a:t>但在交互设备技术不断发展的当下</a:t>
            </a:r>
            <a:r>
              <a:rPr lang="en-US" altLang="zh-CN" sz="1400" b="0" i="0" u="none" strike="noStrike">
                <a:solidFill>
                  <a:srgbClr val="000000"/>
                </a:solidFill>
              </a:rPr>
              <a:t>, </a:t>
            </a:r>
            <a:r>
              <a:rPr lang="zh-CN" altLang="en-US" sz="1400" b="0" i="0" u="none" strike="noStrike">
                <a:solidFill>
                  <a:srgbClr val="000000"/>
                </a:solidFill>
              </a:rPr>
              <a:t>这种定式对我们逐渐形成了一种束缚</a:t>
            </a:r>
            <a:r>
              <a:rPr lang="en-US" altLang="zh-CN" sz="1400" b="0" i="0" u="none" strike="noStrike">
                <a:solidFill>
                  <a:srgbClr val="000000"/>
                </a:solidFill>
              </a:rPr>
              <a:t>, </a:t>
            </a:r>
            <a:r>
              <a:rPr lang="zh-CN" altLang="en-US" sz="1400" b="0" i="0" u="none" strike="noStrike">
                <a:solidFill>
                  <a:srgbClr val="000000"/>
                </a:solidFill>
              </a:rPr>
              <a:t>限制了操作的自由度并阻止我们在部分场景中对网页进行使用</a:t>
            </a:r>
            <a:r>
              <a:rPr lang="en-US" altLang="zh-CN" sz="1400" b="0" i="0" u="none" strike="noStrike">
                <a:solidFill>
                  <a:srgbClr val="000000"/>
                </a:solidFill>
              </a:rPr>
              <a:t>,</a:t>
            </a:r>
            <a:r>
              <a:rPr lang="zh-CN" altLang="en-US" sz="1400" b="0" i="0" u="none" strike="noStrike">
                <a:solidFill>
                  <a:srgbClr val="000000"/>
                </a:solidFill>
              </a:rPr>
              <a:t>比如在洗衣服</a:t>
            </a:r>
            <a:r>
              <a:rPr lang="en-US" altLang="zh-CN" sz="1400" b="0" i="0" u="none" strike="noStrike">
                <a:solidFill>
                  <a:srgbClr val="000000"/>
                </a:solidFill>
              </a:rPr>
              <a:t>, </a:t>
            </a:r>
            <a:r>
              <a:rPr lang="zh-CN" altLang="en-US" sz="1400" b="0" i="0" u="none" strike="noStrike">
                <a:solidFill>
                  <a:srgbClr val="000000"/>
                </a:solidFill>
              </a:rPr>
              <a:t>开车和烹饪这类双手被占用无法使用键鼠的典型场景以及渐冻症患者这类只能有限使用双手难以支持长时间打字点按鼠标的极端场景</a:t>
            </a:r>
            <a:r>
              <a:rPr lang="en-US" altLang="zh-CN" sz="1400" b="0" i="0" u="none" strike="noStrike">
                <a:solidFill>
                  <a:srgbClr val="000000"/>
                </a:solidFill>
              </a:rPr>
              <a:t>, </a:t>
            </a:r>
            <a:r>
              <a:rPr lang="zh-CN" altLang="en-US" sz="1400" b="0" i="0" u="none" strike="noStrike">
                <a:solidFill>
                  <a:srgbClr val="000000"/>
                </a:solidFill>
              </a:rPr>
              <a:t>在这些场景下</a:t>
            </a:r>
            <a:r>
              <a:rPr lang="en-US" altLang="zh-CN" sz="1400" b="0" i="0" u="none" strike="noStrike">
                <a:solidFill>
                  <a:srgbClr val="000000"/>
                </a:solidFill>
              </a:rPr>
              <a:t>, </a:t>
            </a:r>
            <a:r>
              <a:rPr lang="zh-CN" altLang="en-US" sz="1400" b="0" i="0" u="none" strike="noStrike">
                <a:solidFill>
                  <a:srgbClr val="000000"/>
                </a:solidFill>
              </a:rPr>
              <a:t>原本的输出可以通过显示屏得到保留</a:t>
            </a:r>
            <a:r>
              <a:rPr lang="en-US" altLang="zh-CN" sz="1400" b="0" i="0" u="none" strike="noStrike">
                <a:solidFill>
                  <a:srgbClr val="000000"/>
                </a:solidFill>
              </a:rPr>
              <a:t>, </a:t>
            </a:r>
            <a:r>
              <a:rPr lang="zh-CN" altLang="en-US" sz="1400" b="0" i="0" u="none" strike="noStrike">
                <a:solidFill>
                  <a:srgbClr val="000000"/>
                </a:solidFill>
              </a:rPr>
              <a:t>当输入却急需一种新的方法</a:t>
            </a:r>
            <a:r>
              <a:rPr lang="en-US" altLang="zh-CN" sz="1400" b="0" i="0" u="none" strike="noStrike">
                <a:solidFill>
                  <a:srgbClr val="000000"/>
                </a:solidFill>
              </a:rPr>
              <a:t>. </a:t>
            </a:r>
            <a:r>
              <a:rPr lang="en-US" sz="1400" b="0" i="0" u="none" strike="noStrike">
                <a:solidFill>
                  <a:srgbClr val="000000"/>
                </a:solidFill>
              </a:rPr>
              <a:t>然而，好消息是，技术正在为我们打开新的大门。现代浏览器已经</a:t>
            </a:r>
            <a:r>
              <a:rPr lang="zh-CN" altLang="en-US" sz="1400" b="0" i="0" u="none" strike="noStrike">
                <a:solidFill>
                  <a:srgbClr val="000000"/>
                </a:solidFill>
              </a:rPr>
              <a:t>广泛</a:t>
            </a:r>
            <a:r>
              <a:rPr lang="en-US" sz="1400" b="0" i="0" u="none" strike="noStrike">
                <a:solidFill>
                  <a:srgbClr val="000000"/>
                </a:solidFill>
              </a:rPr>
              <a:t>原生支持调用摄像头和麦克风的API，这为我们在网页端实现更自然的交互提供了坚实的技术基础。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更令人兴奋的是AI技术的发展。大模型的出现，让我们能够以极低的成本实现强大的自然语言理解, </a:t>
            </a:r>
            <a:r>
              <a:rPr lang="zh-CN" altLang="en-US" sz="1400" b="0" i="0" u="none" strike="noStrike">
                <a:solidFill>
                  <a:srgbClr val="000000"/>
                </a:solidFill>
              </a:rPr>
              <a:t>手势识别等功能</a:t>
            </a:r>
            <a:r>
              <a:rPr lang="en-US" altLang="zh-CN" sz="1400" b="0" i="0" u="none" strike="noStrike">
                <a:solidFill>
                  <a:srgbClr val="000000"/>
                </a:solidFill>
              </a:rPr>
              <a:t>, </a:t>
            </a:r>
            <a:r>
              <a:rPr lang="zh-CN" altLang="en-US" sz="1400" b="0" i="0" u="none" strike="noStrike">
                <a:solidFill>
                  <a:srgbClr val="000000"/>
                </a:solidFill>
              </a:rPr>
              <a:t>完成对用户意图的提取</a:t>
            </a:r>
            <a:r>
              <a:rPr lang="en-US" sz="1400" b="0" i="0" u="none" strike="noStrike">
                <a:solidFill>
                  <a:srgbClr val="000000"/>
                </a:solidFill>
              </a:rPr>
              <a:t>，</a:t>
            </a:r>
            <a:r>
              <a:rPr lang="zh-CN" altLang="en-US" sz="1400" b="0" i="0" u="none" strike="noStrike">
                <a:solidFill>
                  <a:srgbClr val="000000"/>
                </a:solidFill>
              </a:rPr>
              <a:t>而调用云端</a:t>
            </a:r>
            <a:r>
              <a:rPr lang="en-US" altLang="zh-CN" sz="1400" b="0" i="0" u="none" strike="noStrike">
                <a:solidFill>
                  <a:srgbClr val="000000"/>
                </a:solidFill>
              </a:rPr>
              <a:t>LLM</a:t>
            </a:r>
            <a:r>
              <a:rPr lang="zh-CN" altLang="en-US" sz="1400" b="0" i="0" u="none" strike="noStrike">
                <a:solidFill>
                  <a:srgbClr val="000000"/>
                </a:solidFill>
              </a:rPr>
              <a:t>的</a:t>
            </a:r>
            <a:r>
              <a:rPr lang="en-US" altLang="zh-CN" sz="1400" b="0" i="0" u="none" strike="noStrike">
                <a:solidFill>
                  <a:srgbClr val="000000"/>
                </a:solidFill>
              </a:rPr>
              <a:t>API ,</a:t>
            </a:r>
            <a:r>
              <a:rPr lang="zh-CN" altLang="en-US" sz="1400" b="0" i="0" u="none" strike="noStrike">
                <a:solidFill>
                  <a:srgbClr val="000000"/>
                </a:solidFill>
              </a:rPr>
              <a:t>引入</a:t>
            </a:r>
            <a:r>
              <a:rPr lang="en-US" altLang="zh-CN" sz="1400" b="0" i="0" u="none" strike="noStrike">
                <a:solidFill>
                  <a:srgbClr val="000000"/>
                </a:solidFill>
              </a:rPr>
              <a:t>google mediapipe</a:t>
            </a:r>
            <a:r>
              <a:rPr lang="zh-CN" altLang="en-US" sz="1400" b="0" i="0" u="none" strike="noStrike">
                <a:solidFill>
                  <a:srgbClr val="000000"/>
                </a:solidFill>
              </a:rPr>
              <a:t>这些手段为我们使用轻量化插件集成高性能</a:t>
            </a:r>
            <a:r>
              <a:rPr lang="en-US" altLang="zh-CN" sz="1400" b="0" i="0" u="none" strike="noStrike">
                <a:solidFill>
                  <a:srgbClr val="000000"/>
                </a:solidFill>
              </a:rPr>
              <a:t>AI</a:t>
            </a:r>
            <a:r>
              <a:rPr lang="zh-CN" altLang="en-US" sz="1400" b="0" i="0" u="none" strike="noStrike">
                <a:solidFill>
                  <a:srgbClr val="000000"/>
                </a:solidFill>
              </a:rPr>
              <a:t>功能提供实现路径</a:t>
            </a:r>
            <a:r>
              <a:rPr lang="en-US" sz="1400" b="0" i="0" u="none" strike="noStrike">
                <a:solidFill>
                  <a:srgbClr val="000000"/>
                </a:solidFill>
              </a:rPr>
              <a:t>。然而，我们发现现有的工具往往功能单一，缺乏真正的融合。这种</a:t>
            </a:r>
            <a:r>
              <a:rPr lang="zh-CN" altLang="en-US" sz="1400" b="0" i="0" u="none" strike="noStrike">
                <a:solidFill>
                  <a:srgbClr val="000000"/>
                </a:solidFill>
              </a:rPr>
              <a:t>市场</a:t>
            </a:r>
            <a:r>
              <a:rPr lang="en-US" sz="1400" b="0" i="0" u="none" strike="noStrike">
                <a:solidFill>
                  <a:srgbClr val="000000"/>
                </a:solidFill>
              </a:rPr>
              <a:t>空白，正是我们项目的切入点，我们希望填补这一空白，探索下一代更自然的</a:t>
            </a:r>
            <a:r>
              <a:rPr lang="zh-CN" altLang="en-US" sz="1400" b="0" i="0" u="none" strike="noStrike">
                <a:solidFill>
                  <a:srgbClr val="000000"/>
                </a:solidFill>
              </a:rPr>
              <a:t>多模态</a:t>
            </a:r>
            <a:r>
              <a:rPr lang="en-US" sz="1400" b="0" i="0" u="none" strike="noStrike">
                <a:solidFill>
                  <a:srgbClr val="000000"/>
                </a:solidFill>
              </a:rPr>
              <a:t>交互方式。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接下来，进入本次汇报的重点——核心动机。我们坚信，技术的最终目的是服务于人。因此，我们的项目不仅仅</a:t>
            </a:r>
            <a:r>
              <a:rPr lang="zh-CN" altLang="en-US" sz="1400" b="0" i="0" u="none" strike="noStrike">
                <a:solidFill>
                  <a:srgbClr val="000000"/>
                </a:solidFill>
              </a:rPr>
              <a:t>在于</a:t>
            </a:r>
            <a:r>
              <a:rPr lang="en-US" sz="1400" b="0" i="0" u="none" strike="noStrike">
                <a:solidFill>
                  <a:srgbClr val="000000"/>
                </a:solidFill>
              </a:rPr>
              <a:t>技术上的探索，更</a:t>
            </a:r>
            <a:r>
              <a:rPr lang="zh-CN" altLang="en-US" sz="1400" b="0" i="0" u="none" strike="noStrike">
                <a:solidFill>
                  <a:srgbClr val="000000"/>
                </a:solidFill>
              </a:rPr>
              <a:t>看重</a:t>
            </a:r>
            <a:r>
              <a:rPr lang="en-US" sz="1400" b="0" i="0" u="none" strike="noStrike">
                <a:solidFill>
                  <a:srgbClr val="000000"/>
                </a:solidFill>
              </a:rPr>
              <a:t>能够切实解决社会问题、提升用户体验。我们</a:t>
            </a:r>
            <a:r>
              <a:rPr lang="zh-CN" altLang="en-US" sz="1400" b="0" i="0" u="none" strike="noStrike">
                <a:solidFill>
                  <a:srgbClr val="000000"/>
                </a:solidFill>
              </a:rPr>
              <a:t>接下来</a:t>
            </a:r>
            <a:r>
              <a:rPr lang="en-US" sz="1400" b="0" i="0" u="none" strike="noStrike">
                <a:solidFill>
                  <a:srgbClr val="000000"/>
                </a:solidFill>
              </a:rPr>
              <a:t>将从三个层面展开.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动机主要源于三个核心价值。首先，是“无障碍”，我们希望通过技术赋能有特殊需求的人群，弥合数字鸿沟。其次，是“免提”，在烹饪、驾驶等场景下解放用户的双手，提升安全性和便利性。最后，是“自然交互”，我们希望回归人类最本能的交互方式，降低学习成本，带来愉悦的体验。这三点共同构成了我们项目的初心和使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接下来</a:t>
            </a:r>
            <a:r>
              <a:rPr lang="en-US" sz="1400" b="0" i="0" u="none" strike="noStrike">
                <a:solidFill>
                  <a:srgbClr val="000000"/>
                </a:solidFill>
              </a:rPr>
              <a:t>第三部分，我们将审视三类相关工作：通用语音助手、独立的模态识别组件，以及基于大模型的网页自主智能体。</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现有方案相比，我们的优势非常明显。通用语音助手无法深入网页内部，而我们的插件能实现像素级控制。独立的算法库使用门槛高，而我们通过插件形式极大地降低了使用难度。相比之下，我们采取“用户主导，AI辅助”的轻量化路线，既保证了响应速度和低成本，又保留了用户的掌控感，这是我们最核心的差异化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接下来介绍项目目标和具体的技术方案。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我们的项目规划分为三个阶段。目前，我们正处于第一阶段，专注于在浏览器插件内开发并验证各个独立模块的核心能力，包括声音、手势和眼动交互的原型与预研。</a:t>
            </a:r>
            <a:r>
              <a:rPr lang="en-US">
                <a:solidFill>
                  <a:srgbClr val="000000"/>
                </a:solidFill>
                <a:sym typeface="+mn-ea"/>
              </a:rPr>
              <a:t>第</a:t>
            </a:r>
            <a:r>
              <a:rPr lang="zh-CN" altLang="en-US">
                <a:solidFill>
                  <a:srgbClr val="000000"/>
                </a:solidFill>
                <a:sym typeface="+mn-ea"/>
              </a:rPr>
              <a:t>二</a:t>
            </a:r>
            <a:r>
              <a:rPr lang="en-US">
                <a:solidFill>
                  <a:srgbClr val="000000"/>
                </a:solidFill>
                <a:sym typeface="+mn-ea"/>
              </a:rPr>
              <a:t>阶段，</a:t>
            </a:r>
            <a:r>
              <a:rPr lang="zh-CN" altLang="en-US">
                <a:solidFill>
                  <a:srgbClr val="000000"/>
                </a:solidFill>
                <a:sym typeface="+mn-ea"/>
              </a:rPr>
              <a:t>我们将对各模块进行完善</a:t>
            </a:r>
            <a:r>
              <a:rPr lang="en-US" altLang="zh-CN">
                <a:solidFill>
                  <a:srgbClr val="000000"/>
                </a:solidFill>
                <a:sym typeface="+mn-ea"/>
              </a:rPr>
              <a:t>. </a:t>
            </a:r>
            <a:r>
              <a:rPr lang="en-US" sz="1400" b="0" i="0" u="none" strike="noStrike">
                <a:solidFill>
                  <a:srgbClr val="000000"/>
                </a:solidFill>
              </a:rPr>
              <a:t>第</a:t>
            </a:r>
            <a:r>
              <a:rPr lang="zh-CN" altLang="en-US" sz="1400" b="0" i="0" u="none" strike="noStrike">
                <a:solidFill>
                  <a:srgbClr val="000000"/>
                </a:solidFill>
              </a:rPr>
              <a:t>三</a:t>
            </a:r>
            <a:r>
              <a:rPr lang="en-US" sz="1400" b="0" i="0" u="none" strike="noStrike">
                <a:solidFill>
                  <a:srgbClr val="000000"/>
                </a:solidFill>
              </a:rPr>
              <a:t>阶段，我们将致力于模块间的组合与协同，重点攻克多模态指令融合与冲突解决，并优化用户体验。长远来看，我们的目标是进入</a:t>
            </a:r>
            <a:r>
              <a:rPr lang="zh-CN" altLang="en-US" sz="1400" b="0" i="0" u="none" strike="noStrike">
                <a:solidFill>
                  <a:srgbClr val="000000"/>
                </a:solidFill>
              </a:rPr>
              <a:t>展望阶段</a:t>
            </a:r>
            <a:r>
              <a:rPr lang="en-US" sz="1400" b="0" i="0" u="none" strike="noStrike">
                <a:solidFill>
                  <a:srgbClr val="000000"/>
                </a:solidFill>
              </a:rPr>
              <a:t>，将技术从PC端拓展到移动端、智能大屏和车载系统，构建一个跨平台的交互生态，并持续探索AI赋能和无障碍应用等更多可能性。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现在，让我们深入技术细节。这一部分将详细介绍我们项目的技术实现方案。我们将从整体架构入手，然后分模块解析手势、语音和眼动的工作流程。这是展示我们技术深度的关键部分。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系统架构核心是浏览器扩展的注入机制。通过向网页注入JS代码，我们获得了操作页面的能力。系统遵循“解耦”原则，手势、语音和眼动三个模态可以独立运行。例如，手势流通过帧差法追踪运动，语音流通过LLM解析意图。这种设计保证了系统的灵活性和未来的可扩展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a:t>
            </a:r>
            <a:r>
              <a:rPr lang="en-US">
                <a:solidFill>
                  <a:srgbClr val="000000"/>
                </a:solidFill>
                <a:sym typeface="+mn-ea"/>
              </a:rPr>
              <a:t>展示我们目前取得的阶段性成果</a:t>
            </a:r>
            <a:r>
              <a:rPr lang="en-US" sz="1400" b="0" i="0" u="none" strike="noStrike">
                <a:solidFill>
                  <a:srgbClr val="000000"/>
                </a:solidFill>
              </a:rPr>
              <a:t>。</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的两个核心Demo。在声音模块中，用户可以用非常自然的语言下达指令,，系统就能理解并执行。在手势模块中，用户只需在摄像头前挥手，就能控制页面滚动。这些Demo虽然还很初级，但它们清晰地展示了我们技术方案的潜力和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的两个核心Demo。在声音模块中，用户可以用非常自然的语言下达指令，比如“帮我发一条弹幕”，系统就能理解并执行。在手势模块中，用户只需在摄像头前挥手，就能控制页面滚动。这些Demo虽然还很初级，但它们清晰地展示了我们技术方案的潜力和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第六部分，我们将坦诚地分析当前面临的挑战，并提出下一步的完善计划。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面临两大挑战：一是系统的鲁棒性，比如手势识别受光线影响，语音依赖网络；二是模态间的割裂感，目前各模块还没有真正融合。针对这些问题，我们的计划是：首先，通过引入防抖机制和研究离线模型来提升稳定性；其次，我们的终极目标是开发一个“融合决策引擎”，实现真正的多模态协同，达到1+1+1大于3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最后一部分，我们将介绍团队的分工情况，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我们的团队分工明确。</a:t>
            </a:r>
            <a:r>
              <a:rPr lang="zh-CN" altLang="en-US" sz="1400" b="0" i="0" u="none" strike="noStrike">
                <a:solidFill>
                  <a:srgbClr val="000000"/>
                </a:solidFill>
              </a:rPr>
              <a:t>我本人主</a:t>
            </a:r>
            <a:r>
              <a:rPr lang="en-US" sz="1400" b="0" i="0" u="none" strike="noStrike">
                <a:solidFill>
                  <a:srgbClr val="000000"/>
                </a:solidFill>
              </a:rPr>
              <a:t>导手势模块，目前已完成Demo并计划优化算法。</a:t>
            </a:r>
            <a:r>
              <a:rPr lang="zh-CN" altLang="en-US" sz="1400" b="0" i="0" u="none" strike="noStrike">
                <a:solidFill>
                  <a:srgbClr val="000000"/>
                </a:solidFill>
              </a:rPr>
              <a:t>熊庭楷</a:t>
            </a:r>
            <a:r>
              <a:rPr lang="en-US" sz="1400" b="0" i="0" u="none" strike="noStrike">
                <a:solidFill>
                  <a:srgbClr val="000000"/>
                </a:solidFill>
              </a:rPr>
              <a:t>主导声音模块，已实现核心功能并将继续扩展。</a:t>
            </a:r>
            <a:r>
              <a:rPr lang="zh-CN" altLang="en-US" sz="1400" b="0" i="0" u="none" strike="noStrike">
                <a:solidFill>
                  <a:srgbClr val="000000"/>
                </a:solidFill>
              </a:rPr>
              <a:t>林煜程</a:t>
            </a:r>
            <a:r>
              <a:rPr lang="en-US" sz="1400" b="0" i="0" u="none" strike="noStrike">
                <a:solidFill>
                  <a:srgbClr val="000000"/>
                </a:solidFill>
              </a:rPr>
              <a:t>负责眼动模块的预研和开发。我们通过定期沟通和协作，确保项目高效、有序地向前推进。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我们的报告结束</a:t>
            </a:r>
            <a:r>
              <a:rPr lang="en-US" altLang="zh-CN" sz="1400" b="0" i="0" u="none" strike="noStrike">
                <a:solidFill>
                  <a:srgbClr val="000000"/>
                </a:solidFill>
              </a:rPr>
              <a:t>,</a:t>
            </a:r>
            <a:r>
              <a:rPr lang="zh-CN" altLang="en-US" sz="1400" b="0" i="0" u="none" strike="noStrike">
                <a:solidFill>
                  <a:srgbClr val="000000"/>
                </a:solidFill>
              </a:rPr>
              <a:t>谢谢大家</a:t>
            </a:r>
            <a:endParaRPr lang="zh-CN" alt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11.xml"/><Relationship Id="rId18" Type="http://schemas.openxmlformats.org/officeDocument/2006/relationships/slideLayout" Target="../slideLayouts/slideLayout12.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5.png"/><Relationship Id="rId2" Type="http://schemas.microsoft.com/office/2007/relationships/media" Target="../media/media1.mp4"/><Relationship Id="rId1" Type="http://schemas.openxmlformats.org/officeDocument/2006/relationships/video" Target="../media/media1.mp4"/></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3.xml"/><Relationship Id="rId3" Type="http://schemas.openxmlformats.org/officeDocument/2006/relationships/image" Target="../media/image6.png"/><Relationship Id="rId2" Type="http://schemas.microsoft.com/office/2007/relationships/media" Target="../media/media2.mp4"/><Relationship Id="rId1" Type="http://schemas.openxmlformats.org/officeDocument/2006/relationships/video" Target="../media/media2.mp4"/></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8" Type="http://schemas.openxmlformats.org/officeDocument/2006/relationships/notesSlide" Target="../notesSlides/notesSlide20.xml"/><Relationship Id="rId17" Type="http://schemas.openxmlformats.org/officeDocument/2006/relationships/slideLayout" Target="../slideLayouts/slideLayout12.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325100" y="12573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325100" y="31242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470900" y="12573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470900" y="49911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8470900" y="12573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325100" y="12446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flipV="1">
            <a:off x="10325100" y="4991100"/>
            <a:ext cx="1865781" cy="1866265"/>
          </a:xfrm>
          <a:custGeom>
            <a:avLst/>
            <a:gdLst/>
            <a:ahLst/>
            <a:cxnLst/>
            <a:rect l="l" t="t" r="r" b="b"/>
            <a:pathLst>
              <a:path w="1865781" h="1866265">
                <a:moveTo>
                  <a:pt x="0" y="0"/>
                </a:moveTo>
                <a:lnTo>
                  <a:pt x="1865781" y="0"/>
                </a:lnTo>
                <a:lnTo>
                  <a:pt x="1865781" y="1866265"/>
                </a:lnTo>
                <a:lnTo>
                  <a:pt x="1865146" y="1866265"/>
                </a:lnTo>
                <a:cubicBezTo>
                  <a:pt x="835092" y="1866265"/>
                  <a:pt x="0" y="1031240"/>
                  <a:pt x="0" y="1270"/>
                </a:cubicBez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flipV="1">
            <a:off x="8470900" y="3136900"/>
            <a:ext cx="1865781" cy="1866265"/>
          </a:xfrm>
          <a:custGeom>
            <a:avLst/>
            <a:gdLst/>
            <a:ahLst/>
            <a:cxnLst/>
            <a:rect l="l" t="t" r="r" b="b"/>
            <a:pathLst>
              <a:path w="1865781" h="1866265">
                <a:moveTo>
                  <a:pt x="0" y="0"/>
                </a:moveTo>
                <a:lnTo>
                  <a:pt x="1865781" y="0"/>
                </a:lnTo>
                <a:lnTo>
                  <a:pt x="1865781" y="1866265"/>
                </a:lnTo>
                <a:lnTo>
                  <a:pt x="1865146" y="1866265"/>
                </a:lnTo>
                <a:cubicBezTo>
                  <a:pt x="835092" y="1866265"/>
                  <a:pt x="0" y="1031240"/>
                  <a:pt x="0" y="1270"/>
                </a:cubicBezTo>
                <a:lnTo>
                  <a:pt x="0" y="0"/>
                </a:ln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8470900" y="49911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6604000" y="4991100"/>
            <a:ext cx="1866900" cy="18669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flipV="1">
            <a:off x="84709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flipV="1">
            <a:off x="91313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flipV="1">
            <a:off x="97917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flipV="1">
            <a:off x="104521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flipV="1">
            <a:off x="111125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flipV="1">
            <a:off x="11772900" y="10541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325100" y="43688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0947400" y="43688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rot="10800000" flipV="1">
            <a:off x="11569700" y="43688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rot="10800000">
            <a:off x="0" y="5930900"/>
            <a:ext cx="932400" cy="932400"/>
          </a:xfrm>
          <a:custGeom>
            <a:avLst/>
            <a:gdLst/>
            <a:ahLst/>
            <a:cxnLst/>
            <a:rect l="l" t="t" r="r" b="b"/>
            <a:pathLst>
              <a:path w="932400" h="932400">
                <a:moveTo>
                  <a:pt x="0" y="0"/>
                </a:moveTo>
                <a:lnTo>
                  <a:pt x="465883" y="0"/>
                </a:lnTo>
                <a:lnTo>
                  <a:pt x="465883" y="635"/>
                </a:lnTo>
                <a:cubicBezTo>
                  <a:pt x="465883" y="257924"/>
                  <a:pt x="674705" y="466675"/>
                  <a:pt x="932082" y="466675"/>
                </a:cubicBezTo>
                <a:lnTo>
                  <a:pt x="932400" y="466675"/>
                </a:lnTo>
                <a:lnTo>
                  <a:pt x="932400" y="932400"/>
                </a:lnTo>
                <a:lnTo>
                  <a:pt x="932082" y="932400"/>
                </a:lnTo>
                <a:cubicBezTo>
                  <a:pt x="417327" y="932400"/>
                  <a:pt x="0" y="515215"/>
                  <a:pt x="0" y="635"/>
                </a:cubicBezTo>
                <a:lnTo>
                  <a:pt x="0" y="0"/>
                </a:ln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546100" y="2286000"/>
            <a:ext cx="7391400" cy="1143000"/>
          </a:xfrm>
          <a:prstGeom prst="rect">
            <a:avLst/>
          </a:prstGeom>
          <a:noFill/>
          <a:ln w="12700" cap="flat" cmpd="sng">
            <a:noFill/>
            <a:prstDash val="solid"/>
            <a:round/>
          </a:ln>
        </p:spPr>
        <p:txBody>
          <a:bodyPr vert="horz" wrap="square" lIns="0" tIns="0" rIns="0" bIns="0" rtlCol="0" anchor="ctr" anchorCtr="0"/>
          <a:lstStyle/>
          <a:p>
            <a:pPr indent="0" algn="l">
              <a:lnSpc>
                <a:spcPct val="92000"/>
              </a:lnSpc>
              <a:defRPr/>
            </a:pPr>
            <a:r>
              <a:rPr lang="en-US" sz="5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多模态网页交互插件</a:t>
            </a:r>
            <a:endParaRPr lang="en-US" sz="1100"/>
          </a:p>
        </p:txBody>
      </p:sp>
      <p:sp>
        <p:nvSpPr>
          <p:cNvPr id="30" name="AutoShape 30"/>
          <p:cNvSpPr/>
          <p:nvPr/>
        </p:nvSpPr>
        <p:spPr>
          <a:xfrm>
            <a:off x="546100" y="3683000"/>
            <a:ext cx="6350000" cy="762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2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从三维</a:t>
            </a:r>
            <a:r>
              <a:rPr lang="en-US" sz="2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出发的新一代无障碍浏览体验</a:t>
            </a:r>
            <a:endParaRPr lang="en-US" sz="1100"/>
          </a:p>
        </p:txBody>
      </p:sp>
      <p:sp>
        <p:nvSpPr>
          <p:cNvPr id="31" name="AutoShape 31"/>
          <p:cNvSpPr/>
          <p:nvPr/>
        </p:nvSpPr>
        <p:spPr>
          <a:xfrm>
            <a:off x="914400" y="4953000"/>
            <a:ext cx="2887345"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小组成员</a:t>
            </a:r>
            <a:r>
              <a:rPr 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张昊</a:t>
            </a:r>
            <a:r>
              <a:rPr lang="en-US" altLang="zh-CN"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熊庭楷</a:t>
            </a:r>
            <a:r>
              <a:rPr lang="en-US" altLang="zh-CN"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林煜</a:t>
            </a:r>
            <a:r>
              <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程</a:t>
            </a:r>
            <a:endParaRPr lang="zh-CN" alt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914400" y="5461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日 期：2026年5月11日</a:t>
            </a:r>
            <a:endParaRPr lang="en-US" sz="1100"/>
          </a:p>
        </p:txBody>
      </p:sp>
      <p:sp>
        <p:nvSpPr>
          <p:cNvPr id="33" name="AutoShape 33"/>
          <p:cNvSpPr/>
          <p:nvPr/>
        </p:nvSpPr>
        <p:spPr>
          <a:xfrm>
            <a:off x="596900" y="762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505A64"/>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用户交互技术</a:t>
            </a:r>
            <a:endParaRPr lang="zh-CN" altLang="en-US" sz="1400" b="0" i="0" u="none" strike="noStrike">
              <a:solidFill>
                <a:srgbClr val="505A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34"/>
          <p:cNvSpPr/>
          <p:nvPr/>
        </p:nvSpPr>
        <p:spPr>
          <a:xfrm>
            <a:off x="596900" y="12065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05A64"/>
                </a:solidFill>
                <a:latin typeface="Noto Sans SC" panose="020B0200000000000000" charset="-122"/>
                <a:ea typeface="Noto Sans SC" panose="020B0200000000000000" charset="-122"/>
                <a:cs typeface="Noto Sans SC" panose="020B0200000000000000" charset="-122"/>
                <a:sym typeface="Noto Sans SC" panose="020B0200000000000000" charset="-122"/>
              </a:rPr>
              <a:t>开题汇报</a:t>
            </a:r>
            <a:endParaRPr lang="en-US" sz="1100"/>
          </a:p>
        </p:txBody>
      </p:sp>
      <p:sp>
        <p:nvSpPr>
          <p:cNvPr id="36" name="AutoShape 36"/>
          <p:cNvSpPr/>
          <p:nvPr/>
        </p:nvSpPr>
        <p:spPr>
          <a:xfrm>
            <a:off x="609600" y="49530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609600" y="5461000"/>
            <a:ext cx="203200" cy="203200"/>
          </a:xfrm>
          <a:prstGeom prst="frame">
            <a:avLst>
              <a:gd name="adj1" fmla="val 31347"/>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325100" y="1778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0" y="49911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9911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rot="10800000" flipV="1">
            <a:off x="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rot="10800000" flipV="1">
            <a:off x="6223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rot="10800000" flipV="1">
            <a:off x="12446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rot="10800000" flipV="1">
            <a:off x="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rot="10800000" flipV="1">
            <a:off x="6223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2446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6223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2446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flipV="1">
            <a:off x="10922000" y="13081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flipV="1">
            <a:off x="11201400" y="13081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flipV="1">
            <a:off x="11493500" y="13081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469900" y="431800"/>
            <a:ext cx="1790700" cy="9271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60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目录</a:t>
            </a:r>
            <a:endParaRPr lang="en-US" sz="1100"/>
          </a:p>
        </p:txBody>
      </p:sp>
      <p:sp>
        <p:nvSpPr>
          <p:cNvPr id="20" name="AutoShape 20"/>
          <p:cNvSpPr/>
          <p:nvPr/>
        </p:nvSpPr>
        <p:spPr>
          <a:xfrm>
            <a:off x="596900" y="1524000"/>
            <a:ext cx="30353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cxnSp>
        <p:nvCxnSpPr>
          <p:cNvPr id="21" name="Connector 21"/>
          <p:cNvCxnSpPr/>
          <p:nvPr/>
        </p:nvCxnSpPr>
        <p:spPr>
          <a:xfrm rot="5390450">
            <a:off x="3810000" y="3930659"/>
            <a:ext cx="4572000" cy="12700"/>
          </a:xfrm>
          <a:prstGeom prst="straightConnector1">
            <a:avLst/>
          </a:prstGeom>
          <a:solidFill>
            <a:srgbClr val="DEE0E3">
              <a:alpha val="100000"/>
            </a:srgbClr>
          </a:solidFill>
          <a:ln w="12700" cap="flat" cmpd="sng">
            <a:solidFill>
              <a:srgbClr val="0C1B7F">
                <a:alpha val="30000"/>
              </a:srgbClr>
            </a:solidFill>
            <a:prstDash val="dash"/>
            <a:round/>
            <a:headEnd type="none" w="med" len="med"/>
            <a:tailEnd type="none" w="med" len="med"/>
          </a:ln>
        </p:spPr>
      </p:cxnSp>
      <p:sp>
        <p:nvSpPr>
          <p:cNvPr id="22" name="AutoShape 22"/>
          <p:cNvSpPr/>
          <p:nvPr/>
        </p:nvSpPr>
        <p:spPr>
          <a:xfrm>
            <a:off x="2285365" y="25527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2666365" y="2489200"/>
            <a:ext cx="3175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 01 背景介绍</a:t>
            </a:r>
            <a:r>
              <a:rPr lang="en-US" sz="1700">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r>
              <a:rPr lang="en-US" sz="1700">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Background)</a:t>
            </a:r>
            <a:endParaRPr lang="en-US" sz="1100"/>
          </a:p>
        </p:txBody>
      </p:sp>
      <p:sp>
        <p:nvSpPr>
          <p:cNvPr id="24" name="AutoShape 24"/>
          <p:cNvSpPr/>
          <p:nvPr/>
        </p:nvSpPr>
        <p:spPr>
          <a:xfrm>
            <a:off x="2286000" y="279400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我们为何要做这件事？从现实挑战与行业趋势出发，探讨项目的启动契机与底层逻辑。</a:t>
            </a:r>
            <a:endPar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6731000" y="497586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112000" y="4912360"/>
            <a:ext cx="430276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 05 成果与展望(</a:t>
            </a:r>
            <a:r>
              <a:rPr lang="en-US" altLang="zh-CN" sz="1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Results </a:t>
            </a:r>
            <a:r>
              <a:rPr lang="en-US" sz="1600">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&amp;</a:t>
            </a:r>
            <a:r>
              <a:rPr lang="en-US" altLang="zh-CN" sz="1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Prospects</a:t>
            </a:r>
            <a:r>
              <a:rPr lang="en-US" sz="1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t>
            </a:r>
            <a:endParaRPr lang="en-US" sz="1100"/>
          </a:p>
        </p:txBody>
      </p:sp>
      <p:sp>
        <p:nvSpPr>
          <p:cNvPr id="27" name="AutoShape 27"/>
          <p:cNvSpPr/>
          <p:nvPr/>
        </p:nvSpPr>
        <p:spPr>
          <a:xfrm>
            <a:off x="6731000" y="5020310"/>
            <a:ext cx="3556000" cy="1397000"/>
          </a:xfrm>
          <a:prstGeom prst="rect">
            <a:avLst/>
          </a:prstGeom>
          <a:noFill/>
          <a:ln w="12700" cap="flat" cmpd="sng">
            <a:noFill/>
            <a:prstDash val="solid"/>
            <a:round/>
          </a:ln>
        </p:spPr>
        <p:txBody>
          <a:bodyPr vert="horz" wrap="square" lIns="0" tIns="0" rIns="0" bIns="0" rtlCol="0" anchor="ctr" anchorCtr="0"/>
          <a:lstStyle/>
          <a:p>
            <a:pPr indent="0" algn="l">
              <a:lnSpc>
                <a:spcPct val="125000"/>
              </a:lnSpc>
            </a:pPr>
            <a:r>
              <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当前的阶段性产出、用户反馈与成效，以及未来的迭代方向和长期价值愿景。</a:t>
            </a:r>
            <a:endParaRPr lang="en-US" sz="13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2286000" y="4622800"/>
            <a:ext cx="203200" cy="203200"/>
          </a:xfrm>
          <a:prstGeom prst="frame">
            <a:avLst>
              <a:gd name="adj1" fmla="val 31347"/>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2667000" y="45593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 02 核心动机 (Motivation)</a:t>
            </a:r>
            <a:endParaRPr lang="en-US" sz="1100"/>
          </a:p>
        </p:txBody>
      </p:sp>
      <p:sp>
        <p:nvSpPr>
          <p:cNvPr id="30" name="AutoShape 30"/>
          <p:cNvSpPr/>
          <p:nvPr/>
        </p:nvSpPr>
        <p:spPr>
          <a:xfrm>
            <a:off x="2286000" y="5130800"/>
            <a:ext cx="3555365"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聚焦无障碍和免提场景的独特价值，阐述解决特定痛点的迫切需求与社会意义。</a:t>
            </a:r>
            <a:endParaRPr lang="en-US" sz="1100"/>
          </a:p>
        </p:txBody>
      </p:sp>
      <p:sp>
        <p:nvSpPr>
          <p:cNvPr id="31" name="AutoShape 31"/>
          <p:cNvSpPr/>
          <p:nvPr/>
        </p:nvSpPr>
        <p:spPr>
          <a:xfrm>
            <a:off x="6731000" y="1771650"/>
            <a:ext cx="203200" cy="203200"/>
          </a:xfrm>
          <a:prstGeom prst="frame">
            <a:avLst>
              <a:gd name="adj1" fmla="val 31347"/>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7112000" y="170815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 03 相关工作 (Related Work)</a:t>
            </a:r>
            <a:endParaRPr lang="en-US" sz="1100"/>
          </a:p>
        </p:txBody>
      </p:sp>
      <p:sp>
        <p:nvSpPr>
          <p:cNvPr id="33" name="AutoShape 33"/>
          <p:cNvSpPr/>
          <p:nvPr/>
        </p:nvSpPr>
        <p:spPr>
          <a:xfrm>
            <a:off x="6731000" y="2343150"/>
            <a:ext cx="4826000" cy="825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审视现有方案的优劣，通过竞品与行业方案分析，明确本项目的差异化优势与切入点。</a:t>
            </a:r>
            <a:endParaRPr lang="en-US" sz="1100"/>
          </a:p>
        </p:txBody>
      </p:sp>
      <p:sp>
        <p:nvSpPr>
          <p:cNvPr id="34" name="AutoShape 34"/>
          <p:cNvSpPr/>
          <p:nvPr/>
        </p:nvSpPr>
        <p:spPr>
          <a:xfrm>
            <a:off x="6731000" y="3295650"/>
            <a:ext cx="203200" cy="203200"/>
          </a:xfrm>
          <a:prstGeom prst="frame">
            <a:avLst>
              <a:gd name="adj1" fmla="val 31347"/>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7112000" y="323215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 04 目标与方案 (Objective &amp; Plan)</a:t>
            </a:r>
            <a:endParaRPr lang="en-US" sz="1100"/>
          </a:p>
        </p:txBody>
      </p:sp>
      <p:sp>
        <p:nvSpPr>
          <p:cNvPr id="36" name="AutoShape 36"/>
          <p:cNvSpPr/>
          <p:nvPr/>
        </p:nvSpPr>
        <p:spPr>
          <a:xfrm>
            <a:off x="6731000" y="3803650"/>
            <a:ext cx="482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展示清晰的技术演进路线图、核心功能架构以及关键技术的实现思路。</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背景介绍</a:t>
            </a:r>
            <a:endParaRPr lang="en-US" sz="1100"/>
          </a:p>
        </p:txBody>
      </p:sp>
      <p:sp>
        <p:nvSpPr>
          <p:cNvPr id="31" name="AutoShape 31"/>
          <p:cNvSpPr/>
          <p:nvPr/>
        </p:nvSpPr>
        <p:spPr>
          <a:xfrm>
            <a:off x="2286000" y="4064000"/>
            <a:ext cx="7620000" cy="1270000"/>
          </a:xfrm>
          <a:prstGeom prst="rect">
            <a:avLst/>
          </a:prstGeom>
          <a:noFill/>
          <a:ln w="12700" cap="flat" cmpd="sng">
            <a:noFill/>
            <a:prstDash val="solid"/>
            <a:round/>
          </a:ln>
        </p:spPr>
        <p:txBody>
          <a:bodyPr vert="horz" wrap="square" lIns="0" tIns="0" rIns="0" bIns="0" rtlCol="0" anchor="t" anchorCtr="0"/>
          <a:lstStyle/>
          <a:p>
            <a:pPr indent="0" algn="ctr">
              <a:lnSpc>
                <a:spcPct val="150000"/>
              </a:lnSpc>
              <a:defRPr/>
            </a:pPr>
            <a:r>
              <a:rPr lang="en-US" sz="20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为何要做这件事？</a:t>
            </a:r>
            <a:endParaRPr lang="en-US" sz="1100"/>
          </a:p>
          <a:p>
            <a:pPr indent="0" algn="ctr">
              <a:lnSpc>
                <a:spcPct val="150000"/>
              </a:lnSpc>
            </a:pPr>
            <a:r>
              <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探讨当前网页交互的瓶颈与技术新机遇</a:t>
            </a:r>
            <a:endParaRPr lang="en-US" sz="16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609600" y="482600"/>
            <a:ext cx="1524000" cy="1016000"/>
          </a:xfrm>
          <a:prstGeom prst="rect">
            <a:avLst/>
          </a:prstGeom>
          <a:noFill/>
          <a:ln w="12700" cap="flat" cmpd="sng">
            <a:noFill/>
            <a:prstDash val="solid"/>
            <a:round/>
          </a:ln>
        </p:spPr>
        <p:txBody>
          <a:bodyPr vert="horz" wrap="square" lIns="0" tIns="0" rIns="0" bIns="0" rtlCol="0" anchor="t" anchorCtr="0"/>
          <a:lstStyle/>
          <a:p>
            <a:pPr indent="0" algn="l">
              <a:lnSpc>
                <a:spcPct val="92000"/>
              </a:lnSpc>
              <a:defRPr/>
            </a:pPr>
            <a:r>
              <a:rPr lang="en-US" sz="26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92000"/>
              </a:lnSpc>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96900" y="520700"/>
            <a:ext cx="10998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传统交互的局限 vs. 技术</a:t>
            </a:r>
            <a:r>
              <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条件</a:t>
            </a:r>
            <a:endPar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4" name="AutoShape 4"/>
          <p:cNvSpPr/>
          <p:nvPr/>
        </p:nvSpPr>
        <p:spPr>
          <a:xfrm>
            <a:off x="596900" y="15240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889000" y="15240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168400" y="15240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460500" y="1397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▎传统</a:t>
            </a:r>
            <a:r>
              <a:rPr lang="zh-CN" altLang="en-US" sz="22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网页</a:t>
            </a:r>
            <a:r>
              <a:rPr lang="en-US" sz="2200" b="0" i="0" u="none" strike="noStrike">
                <a:solidFill>
                  <a:srgbClr val="1F2329"/>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交互的固有局限</a:t>
            </a:r>
            <a:endParaRPr lang="en-US" sz="1100"/>
          </a:p>
        </p:txBody>
      </p:sp>
      <p:sp>
        <p:nvSpPr>
          <p:cNvPr id="8" name="AutoShape 8"/>
          <p:cNvSpPr/>
          <p:nvPr/>
        </p:nvSpPr>
        <p:spPr>
          <a:xfrm>
            <a:off x="596900" y="2286000"/>
            <a:ext cx="2489200" cy="38100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787400" y="2540000"/>
            <a:ext cx="2108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10" name="AutoShape 10"/>
          <p:cNvSpPr/>
          <p:nvPr/>
        </p:nvSpPr>
        <p:spPr>
          <a:xfrm>
            <a:off x="787400" y="3556000"/>
            <a:ext cx="2108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9B312"/>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物理依赖</a:t>
            </a:r>
            <a:endParaRPr lang="en-US" sz="1100"/>
          </a:p>
        </p:txBody>
      </p:sp>
      <p:sp>
        <p:nvSpPr>
          <p:cNvPr id="11" name="AutoShape 11"/>
          <p:cNvSpPr/>
          <p:nvPr/>
        </p:nvSpPr>
        <p:spPr>
          <a:xfrm>
            <a:off x="787400" y="4572000"/>
            <a:ext cx="21082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EBEBEB"/>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交互始终建立在键盘、鼠标等物理设备上，形成“束缚”，限制了操作的自由度与自然度。</a:t>
            </a:r>
            <a:endParaRPr lang="en-US" sz="1100"/>
          </a:p>
        </p:txBody>
      </p:sp>
      <p:sp>
        <p:nvSpPr>
          <p:cNvPr id="12" name="AutoShape 12"/>
          <p:cNvSpPr/>
          <p:nvPr/>
        </p:nvSpPr>
        <p:spPr>
          <a:xfrm>
            <a:off x="3340100" y="2286000"/>
            <a:ext cx="2489200" cy="38100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30600" y="2540000"/>
            <a:ext cx="21082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14" name="AutoShape 14"/>
          <p:cNvSpPr/>
          <p:nvPr/>
        </p:nvSpPr>
        <p:spPr>
          <a:xfrm>
            <a:off x="3530600" y="3556000"/>
            <a:ext cx="21082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场景割裂</a:t>
            </a:r>
            <a:endParaRPr lang="en-US" sz="1100"/>
          </a:p>
        </p:txBody>
      </p:sp>
      <p:sp>
        <p:nvSpPr>
          <p:cNvPr id="15" name="AutoShape 15"/>
          <p:cNvSpPr/>
          <p:nvPr/>
        </p:nvSpPr>
        <p:spPr>
          <a:xfrm>
            <a:off x="3530600" y="4572000"/>
            <a:ext cx="21082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当双手被占用（如驾驶、烹饪）或身体不便时，用户与数字世界的连接便被切断，体验断层。</a:t>
            </a:r>
            <a:endParaRPr lang="en-US" sz="1100"/>
          </a:p>
        </p:txBody>
      </p:sp>
      <p:sp>
        <p:nvSpPr>
          <p:cNvPr id="16" name="AutoShape 16"/>
          <p:cNvSpPr/>
          <p:nvPr/>
        </p:nvSpPr>
        <p:spPr>
          <a:xfrm>
            <a:off x="6083300" y="2286000"/>
            <a:ext cx="5486400" cy="3810000"/>
          </a:xfrm>
          <a:prstGeom prst="roundRect">
            <a:avLst>
              <a:gd name="adj" fmla="val 4000"/>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337300" y="2540000"/>
            <a:ext cx="49784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Web 端硬件调用能力的成熟</a:t>
            </a:r>
            <a:endParaRPr lang="en-US" sz="1100"/>
          </a:p>
        </p:txBody>
      </p:sp>
      <p:sp>
        <p:nvSpPr>
          <p:cNvPr id="18" name="AutoShape 18"/>
          <p:cNvSpPr/>
          <p:nvPr/>
        </p:nvSpPr>
        <p:spPr>
          <a:xfrm>
            <a:off x="6337300" y="3556000"/>
            <a:ext cx="4978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 API 原生支持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HTML5 的</a:t>
            </a:r>
            <a:r>
              <a:rPr lang="en-US" sz="13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getUserMedia</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和</a:t>
            </a:r>
            <a:r>
              <a:rPr lang="en-US" sz="13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Web Speech API</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打破了壁垒，让浏览器能直接、安全地访问摄像头、麦克风等硬件。</a:t>
            </a:r>
            <a:endParaRPr lang="en-US" sz="1100"/>
          </a:p>
        </p:txBody>
      </p:sp>
      <p:sp>
        <p:nvSpPr>
          <p:cNvPr id="19" name="AutoShape 19"/>
          <p:cNvSpPr/>
          <p:nvPr/>
        </p:nvSpPr>
        <p:spPr>
          <a:xfrm>
            <a:off x="6337300" y="4953000"/>
            <a:ext cx="49784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▍技术民主化与落地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大幅降低了开发门槛，让开发者无需复杂的原生开发，即可在网页端实现语音、视觉等多模态交互。</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96900" y="5397500"/>
            <a:ext cx="3644900" cy="9017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149600" y="5397500"/>
            <a:ext cx="8394700" cy="9017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背景</a:t>
            </a: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现状</a:t>
            </a:r>
            <a:endParaRPr lang="en-US" sz="1100"/>
          </a:p>
        </p:txBody>
      </p:sp>
      <p:sp>
        <p:nvSpPr>
          <p:cNvPr id="9" name="AutoShape 9"/>
          <p:cNvSpPr/>
          <p:nvPr/>
        </p:nvSpPr>
        <p:spPr>
          <a:xfrm rot="10800000" flipV="1">
            <a:off x="3644900" y="5588000"/>
            <a:ext cx="7785100" cy="558800"/>
          </a:xfrm>
          <a:prstGeom prst="rect">
            <a:avLst/>
          </a:prstGeom>
          <a:noFill/>
          <a:ln w="12700" cap="flat" cmpd="sng">
            <a:noFill/>
            <a:prstDash val="solid"/>
            <a:round/>
          </a:ln>
        </p:spPr>
        <p:txBody>
          <a:bodyPr vert="horz" wrap="square" lIns="0" tIns="0" rIns="0" bIns="0" rtlCol="0" anchor="t" anchorCtr="0"/>
          <a:lstStyle/>
          <a:p>
            <a:pPr indent="0" algn="just">
              <a:lnSpc>
                <a:spcPct val="117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AI技术赋予了语音交互强大的“大脑”，但现有工具功能单一、缺乏融合，这一市场空白正是我们切入的绝佳机会。</a:t>
            </a:r>
            <a:endParaRPr lang="en-US" sz="1100"/>
          </a:p>
        </p:txBody>
      </p:sp>
      <p:sp>
        <p:nvSpPr>
          <p:cNvPr id="10" name="Freeform 10"/>
          <p:cNvSpPr/>
          <p:nvPr/>
        </p:nvSpPr>
        <p:spPr>
          <a:xfrm>
            <a:off x="9398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rot="10800000" flipV="1">
            <a:off x="596900" y="3975100"/>
            <a:ext cx="21082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大模型提供了强大的自然语言理解能力,</a:t>
            </a:r>
            <a:r>
              <a:rPr lang="en-US" sz="1300">
                <a:solidFill>
                  <a:srgbClr val="505050"/>
                </a:solidFill>
                <a:latin typeface="Noto Sans SC" panose="020B0200000000000000" charset="-122"/>
                <a:ea typeface="Noto Sans SC" panose="020B0200000000000000" charset="-122"/>
                <a:cs typeface="Noto Sans SC" panose="020B0200000000000000" charset="-122"/>
                <a:sym typeface="+mn-ea"/>
              </a:rPr>
              <a:t>手势识别</a:t>
            </a:r>
            <a:r>
              <a:rPr lang="zh-CN" altLang="en-US" sz="1300">
                <a:solidFill>
                  <a:srgbClr val="505050"/>
                </a:solidFill>
                <a:latin typeface="Noto Sans SC" panose="020B0200000000000000" charset="-122"/>
                <a:ea typeface="Noto Sans SC" panose="020B0200000000000000" charset="-122"/>
                <a:cs typeface="Noto Sans SC" panose="020B0200000000000000" charset="-122"/>
                <a:sym typeface="+mn-ea"/>
              </a:rPr>
              <a:t>能力</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，能准确提取用户意图。</a:t>
            </a:r>
            <a:endParaRPr lang="en-US" sz="1100"/>
          </a:p>
        </p:txBody>
      </p:sp>
      <p:sp>
        <p:nvSpPr>
          <p:cNvPr id="12" name="AutoShape 12"/>
          <p:cNvSpPr/>
          <p:nvPr/>
        </p:nvSpPr>
        <p:spPr>
          <a:xfrm rot="10800000" flipV="1">
            <a:off x="673100" y="3525520"/>
            <a:ext cx="20193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AI的颠覆性助力</a:t>
            </a:r>
            <a:endParaRPr lang="en-US" sz="1100"/>
          </a:p>
        </p:txBody>
      </p:sp>
      <p:sp>
        <p:nvSpPr>
          <p:cNvPr id="13" name="AutoShape 13"/>
          <p:cNvSpPr/>
          <p:nvPr/>
        </p:nvSpPr>
        <p:spPr>
          <a:xfrm>
            <a:off x="10922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14" name="Freeform 14"/>
          <p:cNvSpPr/>
          <p:nvPr/>
        </p:nvSpPr>
        <p:spPr>
          <a:xfrm>
            <a:off x="38989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3568700" y="3975100"/>
            <a:ext cx="21082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通过调用云端LLM的API</a:t>
            </a:r>
            <a:r>
              <a:rPr lang="en-US" sz="13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altLang="zh-CN" sz="13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Google MediaPipe</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，我们可以以极低的成本获得</a:t>
            </a:r>
            <a:r>
              <a:rPr lang="zh-CN" alt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便捷</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的AI能力，使轻量级插件集成高级AI功能成为可能。</a:t>
            </a:r>
            <a:endParaRPr lang="en-US" sz="1100"/>
          </a:p>
        </p:txBody>
      </p:sp>
      <p:sp>
        <p:nvSpPr>
          <p:cNvPr id="16" name="AutoShape 16"/>
          <p:cNvSpPr/>
          <p:nvPr/>
        </p:nvSpPr>
        <p:spPr>
          <a:xfrm rot="10800000" flipV="1">
            <a:off x="3606800" y="3530600"/>
            <a:ext cx="20193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低成本与高效率</a:t>
            </a:r>
            <a:endParaRPr lang="en-US" sz="1100"/>
          </a:p>
        </p:txBody>
      </p:sp>
      <p:sp>
        <p:nvSpPr>
          <p:cNvPr id="17" name="AutoShape 17"/>
          <p:cNvSpPr/>
          <p:nvPr/>
        </p:nvSpPr>
        <p:spPr>
          <a:xfrm>
            <a:off x="40513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18" name="Freeform 18"/>
          <p:cNvSpPr/>
          <p:nvPr/>
        </p:nvSpPr>
        <p:spPr>
          <a:xfrm>
            <a:off x="68707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6527800" y="3975100"/>
            <a:ext cx="21082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现有辅助工具多为单一模态，缺乏协同与融合，无法满足用户在复杂场景下的深度交互需求。</a:t>
            </a:r>
            <a:endParaRPr lang="en-US" sz="1100"/>
          </a:p>
        </p:txBody>
      </p:sp>
      <p:sp>
        <p:nvSpPr>
          <p:cNvPr id="20" name="AutoShape 20"/>
          <p:cNvSpPr/>
          <p:nvPr/>
        </p:nvSpPr>
        <p:spPr>
          <a:xfrm rot="10800000" flipV="1">
            <a:off x="6565900" y="3530600"/>
            <a:ext cx="20193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当前</a:t>
            </a:r>
            <a:r>
              <a:rPr lang="zh-CN" alt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工具</a:t>
            </a: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的现状</a:t>
            </a:r>
            <a:endParaRPr lang="en-US" sz="1100"/>
          </a:p>
        </p:txBody>
      </p:sp>
      <p:sp>
        <p:nvSpPr>
          <p:cNvPr id="21" name="AutoShape 21"/>
          <p:cNvSpPr/>
          <p:nvPr/>
        </p:nvSpPr>
        <p:spPr>
          <a:xfrm>
            <a:off x="70231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22" name="Freeform 22"/>
          <p:cNvSpPr/>
          <p:nvPr/>
        </p:nvSpPr>
        <p:spPr>
          <a:xfrm>
            <a:off x="98298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flipV="1">
            <a:off x="9486900" y="3975100"/>
            <a:ext cx="21082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zh-CN" alt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深度融合的、易于安装和使用的浏览器插件方案仍然是空白</a:t>
            </a:r>
            <a:r>
              <a:rPr lang="zh-CN" alt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，这是我们的目标。</a:t>
            </a:r>
            <a:endParaRPr lang="zh-CN" alt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rot="10800000" flipV="1">
            <a:off x="9525000" y="3530600"/>
            <a:ext cx="20193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市场空白与机遇</a:t>
            </a:r>
            <a:endParaRPr lang="en-US" sz="1100"/>
          </a:p>
        </p:txBody>
      </p:sp>
      <p:sp>
        <p:nvSpPr>
          <p:cNvPr id="25" name="AutoShape 25"/>
          <p:cNvSpPr/>
          <p:nvPr/>
        </p:nvSpPr>
        <p:spPr>
          <a:xfrm>
            <a:off x="99822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100"/>
          </a:p>
        </p:txBody>
      </p:sp>
      <p:sp>
        <p:nvSpPr>
          <p:cNvPr id="26" name="AutoShape 26"/>
          <p:cNvSpPr/>
          <p:nvPr/>
        </p:nvSpPr>
        <p:spPr>
          <a:xfrm rot="10800000" flipV="1">
            <a:off x="787400" y="5689600"/>
            <a:ext cx="22098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总结</a:t>
            </a:r>
            <a:endParaRPr lang="en-US" sz="1100"/>
          </a:p>
        </p:txBody>
      </p:sp>
      <p:sp>
        <p:nvSpPr>
          <p:cNvPr id="27" name="Freeform 27"/>
          <p:cNvSpPr/>
          <p:nvPr/>
        </p:nvSpPr>
        <p:spPr>
          <a:xfrm flipV="1">
            <a:off x="5969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flipV="1">
            <a:off x="10414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flipV="1">
            <a:off x="14859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flipV="1">
            <a:off x="19812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flipV="1">
            <a:off x="24257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flipV="1">
            <a:off x="28702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11353800" y="52578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核心动机</a:t>
            </a:r>
            <a:endParaRPr lang="en-US" sz="1100"/>
          </a:p>
        </p:txBody>
      </p:sp>
      <p:sp>
        <p:nvSpPr>
          <p:cNvPr id="31" name="AutoShape 31"/>
          <p:cNvSpPr/>
          <p:nvPr/>
        </p:nvSpPr>
        <p:spPr>
          <a:xfrm>
            <a:off x="2921000" y="4191000"/>
            <a:ext cx="6350000" cy="1270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800" b="0" i="0" u="none" strike="noStrike">
                <a:solidFill>
                  <a:srgbClr val="43434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深入分析项目的价值所在，聚焦无障碍与免提场景的迫切需求</a:t>
            </a:r>
            <a:endParaRPr lang="en-US" sz="1100"/>
          </a:p>
        </p:txBody>
      </p:sp>
      <p:sp>
        <p:nvSpPr>
          <p:cNvPr id="32" name="AutoShape 32"/>
          <p:cNvSpPr/>
          <p:nvPr/>
        </p:nvSpPr>
        <p:spPr>
          <a:xfrm>
            <a:off x="609600" y="508000"/>
            <a:ext cx="1651000" cy="1016000"/>
          </a:xfrm>
          <a:prstGeom prst="rect">
            <a:avLst/>
          </a:prstGeom>
          <a:noFill/>
          <a:ln w="12700" cap="flat" cmpd="sng">
            <a:noFill/>
            <a:prstDash val="solid"/>
            <a:round/>
          </a:ln>
        </p:spPr>
        <p:txBody>
          <a:bodyPr vert="horz" wrap="square" lIns="0" tIns="0" rIns="0" bIns="0" rtlCol="0" anchor="t" anchorCtr="0"/>
          <a:lstStyle/>
          <a:p>
            <a:pPr indent="0" algn="l">
              <a:lnSpc>
                <a:spcPct val="92000"/>
              </a:lnSpc>
              <a:defRPr/>
            </a:pPr>
            <a:r>
              <a:rPr lang="en-US" sz="2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92000"/>
              </a:lnSpc>
            </a:pPr>
            <a:r>
              <a:rPr lang="en-US" sz="3200" b="1"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3200" b="1"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7150100" y="2311400"/>
            <a:ext cx="787400" cy="787400"/>
          </a:xfrm>
          <a:custGeom>
            <a:avLst/>
            <a:gdLst/>
            <a:ahLst/>
            <a:cxnLst/>
            <a:rect l="l" t="t" r="r" b="b"/>
            <a:pathLst>
              <a:path w="787400" h="787400">
                <a:moveTo>
                  <a:pt x="0" y="0"/>
                </a:moveTo>
                <a:lnTo>
                  <a:pt x="787400" y="0"/>
                </a:lnTo>
                <a:lnTo>
                  <a:pt x="787400" y="787400"/>
                </a:lnTo>
                <a:lnTo>
                  <a:pt x="787132" y="787400"/>
                </a:lnTo>
                <a:cubicBezTo>
                  <a:pt x="352428" y="787400"/>
                  <a:pt x="0" y="435093"/>
                  <a:pt x="0" y="536"/>
                </a:cubicBezTo>
                <a:lnTo>
                  <a:pt x="0" y="0"/>
                </a:lnTo>
                <a:close/>
              </a:path>
            </a:pathLst>
          </a:cu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7" name="AutoShape 7"/>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项目的三大核心</a:t>
            </a:r>
            <a:r>
              <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动机</a:t>
            </a:r>
            <a:endPar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8" name="AutoShape 8"/>
          <p:cNvSpPr/>
          <p:nvPr/>
        </p:nvSpPr>
        <p:spPr>
          <a:xfrm>
            <a:off x="7137400" y="1879600"/>
            <a:ext cx="4419600" cy="431800"/>
          </a:xfrm>
          <a:prstGeom prst="roundRect">
            <a:avLst>
              <a:gd name="adj" fmla="val 0"/>
            </a:avLst>
          </a:prstGeom>
          <a:solidFill>
            <a:srgbClr val="E95354">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赋能特定人群，弥合数字鸿沟 (无障碍)</a:t>
            </a:r>
            <a:endParaRPr lang="en-US" sz="1100"/>
          </a:p>
        </p:txBody>
      </p:sp>
      <p:sp>
        <p:nvSpPr>
          <p:cNvPr id="9" name="AutoShape 9"/>
          <p:cNvSpPr/>
          <p:nvPr/>
        </p:nvSpPr>
        <p:spPr>
          <a:xfrm>
            <a:off x="8128000" y="2425700"/>
            <a:ext cx="3327400" cy="889000"/>
          </a:xfrm>
          <a:prstGeom prst="rect">
            <a:avLst/>
          </a:prstGeom>
          <a:noFill/>
          <a:ln w="12700" cap="flat" cmpd="sng">
            <a:noFill/>
            <a:prstDash val="solid"/>
            <a:round/>
          </a:ln>
        </p:spPr>
        <p:txBody>
          <a:bodyPr vert="horz" wrap="square" lIns="0" tIns="0" rIns="0" bIns="0" rtlCol="0" anchor="t" anchorCtr="0"/>
          <a:lstStyle/>
          <a:p>
            <a:pPr indent="0" algn="just">
              <a:lnSpc>
                <a:spcPct val="117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我们的插件旨在成为肢体运动障碍者或临时受伤者的“数字义肢”，保障他们平等获取信息的权利。</a:t>
            </a:r>
            <a:endParaRPr lang="en-US" sz="1100"/>
          </a:p>
        </p:txBody>
      </p:sp>
      <p:sp>
        <p:nvSpPr>
          <p:cNvPr id="10" name="AutoShape 10"/>
          <p:cNvSpPr/>
          <p:nvPr/>
        </p:nvSpPr>
        <p:spPr>
          <a:xfrm>
            <a:off x="7137400" y="3492500"/>
            <a:ext cx="4419600" cy="431800"/>
          </a:xfrm>
          <a:prstGeom prst="roundRect">
            <a:avLst>
              <a:gd name="adj" fmla="val 0"/>
            </a:avLst>
          </a:prstGeom>
          <a:solidFill>
            <a:srgbClr val="F9B312">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解放双手，应对特定场景 (免提)</a:t>
            </a:r>
            <a:endParaRPr lang="en-US" sz="1100"/>
          </a:p>
        </p:txBody>
      </p:sp>
      <p:sp>
        <p:nvSpPr>
          <p:cNvPr id="11" name="AutoShape 11"/>
          <p:cNvSpPr/>
          <p:nvPr/>
        </p:nvSpPr>
        <p:spPr>
          <a:xfrm>
            <a:off x="8128000" y="4025900"/>
            <a:ext cx="3302000" cy="889000"/>
          </a:xfrm>
          <a:prstGeom prst="rect">
            <a:avLst/>
          </a:prstGeom>
          <a:noFill/>
          <a:ln w="12700" cap="flat" cmpd="sng">
            <a:noFill/>
            <a:prstDash val="solid"/>
            <a:round/>
          </a:ln>
        </p:spPr>
        <p:txBody>
          <a:bodyPr vert="horz" wrap="square" lIns="0" tIns="0" rIns="0" bIns="0" rtlCol="0" anchor="t" anchorCtr="0"/>
          <a:lstStyle/>
          <a:p>
            <a:pPr indent="0" algn="just">
              <a:lnSpc>
                <a:spcPct val="117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在烹饪、维修、健身等场景下，让用户无需动手即可完成翻页、播放等操作，实现真正的“免提”体验。</a:t>
            </a:r>
            <a:endParaRPr lang="en-US" sz="1100"/>
          </a:p>
        </p:txBody>
      </p:sp>
      <p:sp>
        <p:nvSpPr>
          <p:cNvPr id="12" name="AutoShape 12"/>
          <p:cNvSpPr/>
          <p:nvPr/>
        </p:nvSpPr>
        <p:spPr>
          <a:xfrm>
            <a:off x="7137400" y="5092700"/>
            <a:ext cx="4419600" cy="431800"/>
          </a:xfrm>
          <a:prstGeom prst="roundRect">
            <a:avLst>
              <a:gd name="adj" fmla="val 0"/>
            </a:avLst>
          </a:prstGeom>
          <a:solidFill>
            <a:srgbClr val="21AAFE">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回归自然，降低交互成本 (自然交互)</a:t>
            </a:r>
            <a:endParaRPr lang="en-US" sz="1100"/>
          </a:p>
        </p:txBody>
      </p:sp>
      <p:sp>
        <p:nvSpPr>
          <p:cNvPr id="13" name="AutoShape 13"/>
          <p:cNvSpPr/>
          <p:nvPr/>
        </p:nvSpPr>
        <p:spPr>
          <a:xfrm>
            <a:off x="8128000" y="5638800"/>
            <a:ext cx="3276600" cy="889000"/>
          </a:xfrm>
          <a:prstGeom prst="rect">
            <a:avLst/>
          </a:prstGeom>
          <a:noFill/>
          <a:ln w="12700" cap="flat" cmpd="sng">
            <a:noFill/>
            <a:prstDash val="solid"/>
            <a:round/>
          </a:ln>
        </p:spPr>
        <p:txBody>
          <a:bodyPr vert="horz" wrap="square" lIns="0" tIns="0" rIns="0" bIns="0" rtlCol="0" anchor="t" anchorCtr="0"/>
          <a:lstStyle/>
          <a:p>
            <a:pPr indent="0" algn="just">
              <a:lnSpc>
                <a:spcPct val="117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多模态交互接口最大的优势在于其“零学习成本”，用户只需像与真人交流一样，用最自然的方式与电脑互动。</a:t>
            </a:r>
            <a:endParaRPr lang="en-US" sz="1100"/>
          </a:p>
        </p:txBody>
      </p:sp>
      <p:sp>
        <p:nvSpPr>
          <p:cNvPr id="14" name="AutoShape 14"/>
          <p:cNvSpPr/>
          <p:nvPr/>
        </p:nvSpPr>
        <p:spPr>
          <a:xfrm>
            <a:off x="596900" y="4953000"/>
            <a:ext cx="5219700" cy="1270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4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项目初衷是结合技术与人文关怀，解决用户在不同场景下的痛点。无论是为了社会公益的无障碍设计，还是满足日常效率需求的免提操作，亦或是追求极致体验的自然交互，都构成了产品核心竞争力的基石。</a:t>
            </a:r>
            <a:endParaRPr lang="en-US" sz="1100"/>
          </a:p>
        </p:txBody>
      </p:sp>
      <p:sp>
        <p:nvSpPr>
          <p:cNvPr id="15" name="AutoShape 15"/>
          <p:cNvSpPr/>
          <p:nvPr/>
        </p:nvSpPr>
        <p:spPr>
          <a:xfrm>
            <a:off x="4305300" y="2641600"/>
            <a:ext cx="1511300" cy="355600"/>
          </a:xfrm>
          <a:prstGeom prst="roundRect">
            <a:avLst>
              <a:gd name="adj" fmla="val 50000"/>
            </a:avLst>
          </a:prstGeom>
          <a:solidFill>
            <a:srgbClr val="0C1B7F">
              <a:alpha val="100000"/>
            </a:srgbClr>
          </a:solidFill>
          <a:ln w="12700" cap="flat" cmpd="sng">
            <a:noFill/>
            <a:prstDash val="solid"/>
            <a:round/>
          </a:ln>
        </p:spPr>
        <p:txBody>
          <a:bodyPr vert="horz" wrap="square" lIns="0" tIns="0" rIns="0" bIns="0" rtlCol="0" anchor="ctr" anchorCtr="0"/>
          <a:lstStyle/>
          <a:p>
            <a:pPr indent="0" algn="ctr">
              <a:lnSpc>
                <a:spcPct val="133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自然交互</a:t>
            </a:r>
            <a:endParaRPr lang="en-US" sz="1100"/>
          </a:p>
        </p:txBody>
      </p:sp>
      <p:sp>
        <p:nvSpPr>
          <p:cNvPr id="16" name="AutoShape 16"/>
          <p:cNvSpPr/>
          <p:nvPr/>
        </p:nvSpPr>
        <p:spPr>
          <a:xfrm>
            <a:off x="622300" y="2641600"/>
            <a:ext cx="1511300" cy="355600"/>
          </a:xfrm>
          <a:prstGeom prst="roundRect">
            <a:avLst>
              <a:gd name="adj" fmla="val 50000"/>
            </a:avLst>
          </a:prstGeom>
          <a:solidFill>
            <a:srgbClr val="E95354">
              <a:alpha val="100000"/>
            </a:srgbClr>
          </a:solidFill>
          <a:ln w="12700" cap="flat" cmpd="sng">
            <a:noFill/>
            <a:prstDash val="solid"/>
            <a:round/>
          </a:ln>
        </p:spPr>
        <p:txBody>
          <a:bodyPr vert="horz" wrap="square" lIns="0" tIns="0" rIns="0" bIns="0" rtlCol="0" anchor="ctr" anchorCtr="0"/>
          <a:lstStyle/>
          <a:p>
            <a:pPr indent="0" algn="ctr">
              <a:lnSpc>
                <a:spcPct val="133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无障碍</a:t>
            </a:r>
            <a:endParaRPr lang="en-US" sz="1100"/>
          </a:p>
        </p:txBody>
      </p:sp>
      <p:sp>
        <p:nvSpPr>
          <p:cNvPr id="17" name="AutoShape 17"/>
          <p:cNvSpPr/>
          <p:nvPr/>
        </p:nvSpPr>
        <p:spPr>
          <a:xfrm>
            <a:off x="2413000" y="2641600"/>
            <a:ext cx="1511300" cy="355600"/>
          </a:xfrm>
          <a:prstGeom prst="roundRect">
            <a:avLst>
              <a:gd name="adj" fmla="val 50000"/>
            </a:avLst>
          </a:prstGeom>
          <a:solidFill>
            <a:srgbClr val="F9B312">
              <a:alpha val="100000"/>
            </a:srgbClr>
          </a:solidFill>
          <a:ln w="12700" cap="flat" cmpd="sng">
            <a:noFill/>
            <a:prstDash val="solid"/>
            <a:round/>
          </a:ln>
        </p:spPr>
        <p:txBody>
          <a:bodyPr vert="horz" wrap="square" lIns="0" tIns="0" rIns="0" bIns="0" rtlCol="0" anchor="ctr" anchorCtr="0"/>
          <a:lstStyle/>
          <a:p>
            <a:pPr indent="0" algn="ctr">
              <a:lnSpc>
                <a:spcPct val="133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免提操作</a:t>
            </a:r>
            <a:endParaRPr lang="en-US" sz="1100"/>
          </a:p>
        </p:txBody>
      </p:sp>
      <p:sp>
        <p:nvSpPr>
          <p:cNvPr id="18" name="AutoShape 18"/>
          <p:cNvSpPr/>
          <p:nvPr/>
        </p:nvSpPr>
        <p:spPr>
          <a:xfrm>
            <a:off x="622300" y="3429000"/>
            <a:ext cx="520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1" i="0" u="none" strike="noStrike">
                <a:solidFill>
                  <a:srgbClr val="E95354"/>
                </a:solidFill>
                <a:latin typeface="Noto Sans SC" panose="020B0200000000000000" charset="-122"/>
                <a:ea typeface="Noto Sans SC" panose="020B0200000000000000" charset="-122"/>
                <a:cs typeface="Noto Sans SC" panose="020B0200000000000000" charset="-122"/>
                <a:sym typeface="Noto Sans SC" panose="020B0200000000000000" charset="-122"/>
              </a:rPr>
              <a:t>● 公益</a:t>
            </a:r>
            <a:r>
              <a:rPr lang="zh-CN" altLang="en-US" sz="1400" b="1" i="0" u="none" strike="noStrike">
                <a:solidFill>
                  <a:srgbClr val="E95354"/>
                </a:solidFill>
                <a:latin typeface="Noto Sans SC" panose="020B0200000000000000" charset="-122"/>
                <a:ea typeface="Noto Sans SC" panose="020B0200000000000000" charset="-122"/>
                <a:cs typeface="Noto Sans SC" panose="020B0200000000000000" charset="-122"/>
                <a:sym typeface="Noto Sans SC" panose="020B0200000000000000" charset="-122"/>
              </a:rPr>
              <a:t>动机</a:t>
            </a:r>
            <a:r>
              <a:rPr lang="en-US" sz="1400" b="1" i="0" u="none" strike="noStrike">
                <a:solidFill>
                  <a:srgbClr val="E9535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消除数字鸿沟，赋予特殊群体平等使用数字产品的权利。</a:t>
            </a:r>
            <a:endParaRPr lang="en-US" sz="1100"/>
          </a:p>
          <a:p>
            <a:pPr indent="0" algn="l">
              <a:lnSpc>
                <a:spcPct val="117000"/>
              </a:lnSpc>
            </a:pPr>
            <a:r>
              <a:rPr lang="en-US" sz="1400" b="1" i="0" u="none" strike="noStrike">
                <a:solidFill>
                  <a:srgbClr val="F9B312"/>
                </a:solidFill>
                <a:latin typeface="Noto Sans SC" panose="020B0200000000000000" charset="-122"/>
                <a:ea typeface="Noto Sans SC" panose="020B0200000000000000" charset="-122"/>
                <a:cs typeface="Noto Sans SC" panose="020B0200000000000000" charset="-122"/>
                <a:sym typeface="Noto Sans SC" panose="020B0200000000000000" charset="-122"/>
              </a:rPr>
              <a:t>● 场景</a:t>
            </a:r>
            <a:r>
              <a:rPr lang="zh-CN" altLang="en-US" sz="1400" b="1" i="0" u="none" strike="noStrike">
                <a:solidFill>
                  <a:srgbClr val="F9B312"/>
                </a:solidFill>
                <a:latin typeface="Noto Sans SC" panose="020B0200000000000000" charset="-122"/>
                <a:ea typeface="Noto Sans SC" panose="020B0200000000000000" charset="-122"/>
                <a:cs typeface="Noto Sans SC" panose="020B0200000000000000" charset="-122"/>
                <a:sym typeface="Noto Sans SC" panose="020B0200000000000000" charset="-122"/>
              </a:rPr>
              <a:t>动机</a:t>
            </a:r>
            <a:r>
              <a:rPr lang="en-US" sz="1400" b="1" i="0" u="none" strike="noStrike">
                <a:solidFill>
                  <a:srgbClr val="F9B312"/>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覆盖生活与工作的碎片化场景，解决双手被占用时的操作痛点。</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400" b="1" i="0" u="none" strike="noStrike">
                <a:solidFill>
                  <a:srgbClr val="21AAFE"/>
                </a:solidFill>
                <a:latin typeface="Noto Sans SC" panose="020B0200000000000000" charset="-122"/>
                <a:ea typeface="Noto Sans SC" panose="020B0200000000000000" charset="-122"/>
                <a:cs typeface="Noto Sans SC" panose="020B0200000000000000" charset="-122"/>
                <a:sym typeface="Noto Sans SC" panose="020B0200000000000000" charset="-122"/>
              </a:rPr>
              <a:t>● 体验</a:t>
            </a:r>
            <a:r>
              <a:rPr lang="zh-CN" altLang="en-US" sz="1400" b="1" i="0" u="none" strike="noStrike">
                <a:solidFill>
                  <a:srgbClr val="21AAFE"/>
                </a:solidFill>
                <a:latin typeface="Noto Sans SC" panose="020B0200000000000000" charset="-122"/>
                <a:ea typeface="Noto Sans SC" panose="020B0200000000000000" charset="-122"/>
                <a:cs typeface="Noto Sans SC" panose="020B0200000000000000" charset="-122"/>
                <a:sym typeface="Noto Sans SC" panose="020B0200000000000000" charset="-122"/>
              </a:rPr>
              <a:t>动机</a:t>
            </a:r>
            <a:r>
              <a:rPr lang="en-US" sz="1400" b="1" i="0" u="none" strike="noStrike">
                <a:solidFill>
                  <a:srgbClr val="21AAF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让技术更有温度，通过模拟人与人的交流方式，让交互回归简单。</a:t>
            </a:r>
            <a:endPar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Freeform 19"/>
          <p:cNvSpPr/>
          <p:nvPr/>
        </p:nvSpPr>
        <p:spPr>
          <a:xfrm>
            <a:off x="7150100" y="3924300"/>
            <a:ext cx="787400" cy="787400"/>
          </a:xfrm>
          <a:custGeom>
            <a:avLst/>
            <a:gdLst/>
            <a:ahLst/>
            <a:cxnLst/>
            <a:rect l="l" t="t" r="r" b="b"/>
            <a:pathLst>
              <a:path w="787400" h="787400">
                <a:moveTo>
                  <a:pt x="0" y="0"/>
                </a:moveTo>
                <a:lnTo>
                  <a:pt x="787400" y="0"/>
                </a:lnTo>
                <a:lnTo>
                  <a:pt x="787400" y="787400"/>
                </a:lnTo>
                <a:lnTo>
                  <a:pt x="787132" y="787400"/>
                </a:lnTo>
                <a:cubicBezTo>
                  <a:pt x="352428" y="787400"/>
                  <a:pt x="0" y="435093"/>
                  <a:pt x="0" y="536"/>
                </a:cubicBezTo>
                <a:lnTo>
                  <a:pt x="0" y="0"/>
                </a:lnTo>
                <a:close/>
              </a:path>
            </a:pathLst>
          </a:cu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20" name="Freeform 20"/>
          <p:cNvSpPr/>
          <p:nvPr/>
        </p:nvSpPr>
        <p:spPr>
          <a:xfrm>
            <a:off x="7150100" y="5524500"/>
            <a:ext cx="787400" cy="787400"/>
          </a:xfrm>
          <a:custGeom>
            <a:avLst/>
            <a:gdLst/>
            <a:ahLst/>
            <a:cxnLst/>
            <a:rect l="l" t="t" r="r" b="b"/>
            <a:pathLst>
              <a:path w="787400" h="787400">
                <a:moveTo>
                  <a:pt x="0" y="0"/>
                </a:moveTo>
                <a:lnTo>
                  <a:pt x="787400" y="0"/>
                </a:lnTo>
                <a:lnTo>
                  <a:pt x="787400" y="787400"/>
                </a:lnTo>
                <a:lnTo>
                  <a:pt x="787132" y="787400"/>
                </a:lnTo>
                <a:cubicBezTo>
                  <a:pt x="352428" y="787400"/>
                  <a:pt x="0" y="435093"/>
                  <a:pt x="0" y="536"/>
                </a:cubicBezTo>
                <a:lnTo>
                  <a:pt x="0" y="0"/>
                </a:lnTo>
                <a:close/>
              </a:path>
            </a:pathLst>
          </a:cu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相关工作</a:t>
            </a:r>
            <a:endParaRPr lang="en-US" sz="1100"/>
          </a:p>
        </p:txBody>
      </p:sp>
      <p:sp>
        <p:nvSpPr>
          <p:cNvPr id="31" name="AutoShape 31"/>
          <p:cNvSpPr/>
          <p:nvPr/>
        </p:nvSpPr>
        <p:spPr>
          <a:xfrm>
            <a:off x="2921000" y="4191000"/>
            <a:ext cx="6350000" cy="1270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800" b="0" i="0" u="none" strike="noStrike">
                <a:solidFill>
                  <a:srgbClr val="3C465A"/>
                </a:solidFill>
                <a:latin typeface="Noto Sans SC" panose="020B0200000000000000" charset="-122"/>
                <a:ea typeface="Noto Sans SC" panose="020B0200000000000000" charset="-122"/>
                <a:cs typeface="Noto Sans SC" panose="020B0200000000000000" charset="-122"/>
                <a:sym typeface="Noto Sans SC" panose="020B0200000000000000" charset="-122"/>
              </a:rPr>
              <a:t>审视现有技术方案，明确差异化定位与核心优势</a:t>
            </a:r>
            <a:endParaRPr lang="en-US" sz="1100"/>
          </a:p>
        </p:txBody>
      </p:sp>
      <p:sp>
        <p:nvSpPr>
          <p:cNvPr id="32" name="AutoShape 32"/>
          <p:cNvSpPr/>
          <p:nvPr/>
        </p:nvSpPr>
        <p:spPr>
          <a:xfrm>
            <a:off x="609600" y="482600"/>
            <a:ext cx="1524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100000"/>
              </a:lnSpc>
            </a:pPr>
            <a:r>
              <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相关工作与</a:t>
            </a: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我们的差异化</a:t>
            </a:r>
            <a:r>
              <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特点</a:t>
            </a:r>
            <a:endParaRPr lang="zh-CN" alt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7" name="AutoShape 7"/>
          <p:cNvSpPr/>
          <p:nvPr/>
        </p:nvSpPr>
        <p:spPr>
          <a:xfrm>
            <a:off x="596900" y="41656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缺乏面向大众的产品形态，功能虽强但使用门槛较高，难以快速普及。</a:t>
            </a:r>
            <a:endParaRPr lang="en-US" sz="1100"/>
          </a:p>
        </p:txBody>
      </p:sp>
      <p:sp>
        <p:nvSpPr>
          <p:cNvPr id="8" name="AutoShape 8"/>
          <p:cNvSpPr/>
          <p:nvPr/>
        </p:nvSpPr>
        <p:spPr>
          <a:xfrm>
            <a:off x="609600" y="38354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独立模态算法库</a:t>
            </a:r>
            <a:endParaRPr lang="en-US" sz="1100"/>
          </a:p>
        </p:txBody>
      </p:sp>
      <p:sp>
        <p:nvSpPr>
          <p:cNvPr id="9" name="AutoShape 9"/>
          <p:cNvSpPr/>
          <p:nvPr/>
        </p:nvSpPr>
        <p:spPr>
          <a:xfrm>
            <a:off x="7086600" y="57785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保留用户主导权，兼顾实时性与成本，坚持“用户主导，AI辅助”的轻量化路线。</a:t>
            </a:r>
            <a:endParaRPr lang="en-US" sz="1100"/>
          </a:p>
        </p:txBody>
      </p:sp>
      <p:sp>
        <p:nvSpPr>
          <p:cNvPr id="10" name="AutoShape 10"/>
          <p:cNvSpPr/>
          <p:nvPr/>
        </p:nvSpPr>
        <p:spPr>
          <a:xfrm>
            <a:off x="7099300" y="54483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A8A0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轻量化前端处理</a:t>
            </a:r>
            <a:endParaRPr lang="en-US" sz="1100"/>
          </a:p>
        </p:txBody>
      </p:sp>
      <p:sp>
        <p:nvSpPr>
          <p:cNvPr id="11" name="AutoShape 11"/>
          <p:cNvSpPr/>
          <p:nvPr/>
        </p:nvSpPr>
        <p:spPr>
          <a:xfrm>
            <a:off x="8877300" y="24638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支持精细化操作，深入网页内部逻辑，实现像素级的精准交互与控制。</a:t>
            </a:r>
            <a:endParaRPr lang="en-US" sz="1100"/>
          </a:p>
        </p:txBody>
      </p:sp>
      <p:sp>
        <p:nvSpPr>
          <p:cNvPr id="12" name="AutoShape 12"/>
          <p:cNvSpPr/>
          <p:nvPr/>
        </p:nvSpPr>
        <p:spPr>
          <a:xfrm>
            <a:off x="8877300" y="21336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A8A0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深度注入网页</a:t>
            </a:r>
            <a:endParaRPr lang="en-US" sz="1100"/>
          </a:p>
        </p:txBody>
      </p:sp>
      <p:sp>
        <p:nvSpPr>
          <p:cNvPr id="13" name="AutoShape 13"/>
          <p:cNvSpPr/>
          <p:nvPr/>
        </p:nvSpPr>
        <p:spPr>
          <a:xfrm>
            <a:off x="596900" y="24511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交互粒度较粗，仅能完成简单的页面跳转或搜索，无法精细操控网页内部的元素。</a:t>
            </a:r>
            <a:endParaRPr lang="en-US" sz="1100"/>
          </a:p>
        </p:txBody>
      </p:sp>
      <p:sp>
        <p:nvSpPr>
          <p:cNvPr id="14" name="AutoShape 14"/>
          <p:cNvSpPr/>
          <p:nvPr/>
        </p:nvSpPr>
        <p:spPr>
          <a:xfrm>
            <a:off x="609600" y="21209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通用语音助手</a:t>
            </a:r>
            <a:endParaRPr lang="en-US" sz="1100"/>
          </a:p>
        </p:txBody>
      </p:sp>
      <p:sp>
        <p:nvSpPr>
          <p:cNvPr id="15" name="AutoShape 15"/>
          <p:cNvSpPr/>
          <p:nvPr/>
        </p:nvSpPr>
        <p:spPr>
          <a:xfrm>
            <a:off x="2362200" y="58039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端侧算力要求高导致响应慢、成本高昂，且系统过于自主，缺乏对用户意图的响应。</a:t>
            </a:r>
            <a:endParaRPr lang="en-US" sz="1100"/>
          </a:p>
        </p:txBody>
      </p:sp>
      <p:sp>
        <p:nvSpPr>
          <p:cNvPr id="16" name="AutoShape 16"/>
          <p:cNvSpPr/>
          <p:nvPr/>
        </p:nvSpPr>
        <p:spPr>
          <a:xfrm>
            <a:off x="2374900" y="54737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网页自主智能体</a:t>
            </a:r>
            <a:endParaRPr lang="en-US" sz="1100"/>
          </a:p>
        </p:txBody>
      </p:sp>
      <p:sp>
        <p:nvSpPr>
          <p:cNvPr id="17" name="AutoShape 17"/>
          <p:cNvSpPr/>
          <p:nvPr/>
        </p:nvSpPr>
        <p:spPr>
          <a:xfrm>
            <a:off x="8877300" y="4152900"/>
            <a:ext cx="2705100" cy="825500"/>
          </a:xfrm>
          <a:prstGeom prst="rect">
            <a:avLst/>
          </a:prstGeom>
          <a:noFill/>
          <a:ln w="12700" cap="flat" cmpd="sng">
            <a:noFill/>
            <a:prstDash val="solid"/>
            <a:round/>
          </a:ln>
        </p:spPr>
        <p:txBody>
          <a:bodyPr vert="horz" wrap="square" lIns="0" tIns="50800" rIns="0" bIns="50800" rtlCol="0" anchor="t" anchorCtr="0"/>
          <a:lstStyle/>
          <a:p>
            <a:pPr indent="0" algn="just">
              <a:lnSpc>
                <a:spcPct val="108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以浏览器插件的形式提供，无需复杂配置，即装即用，极大降低用户的使用门槛。</a:t>
            </a:r>
            <a:endParaRPr lang="en-US" sz="1100"/>
          </a:p>
        </p:txBody>
      </p:sp>
      <p:sp>
        <p:nvSpPr>
          <p:cNvPr id="18" name="AutoShape 18"/>
          <p:cNvSpPr/>
          <p:nvPr/>
        </p:nvSpPr>
        <p:spPr>
          <a:xfrm>
            <a:off x="8877300" y="3822700"/>
            <a:ext cx="2641600" cy="3556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CA8A0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三方能力集成</a:t>
            </a:r>
            <a:endParaRPr lang="en-US" sz="1100"/>
          </a:p>
        </p:txBody>
      </p:sp>
      <p:sp>
        <p:nvSpPr>
          <p:cNvPr id="19" name="AutoShape 19"/>
          <p:cNvSpPr/>
          <p:nvPr/>
        </p:nvSpPr>
        <p:spPr>
          <a:xfrm>
            <a:off x="4203700" y="1435100"/>
            <a:ext cx="3771900" cy="3771900"/>
          </a:xfrm>
          <a:prstGeom prst="blockArc">
            <a:avLst>
              <a:gd name="adj1" fmla="val 20627412"/>
              <a:gd name="adj2" fmla="val 11676539"/>
              <a:gd name="adj3" fmla="val 526"/>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3962400" y="2717800"/>
            <a:ext cx="558800" cy="558800"/>
          </a:xfrm>
          <a:prstGeom prst="ellipse">
            <a:avLst/>
          </a:prstGeom>
          <a:solidFill>
            <a:srgbClr val="21AAFE">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21" name="AutoShape 21"/>
          <p:cNvSpPr/>
          <p:nvPr/>
        </p:nvSpPr>
        <p:spPr>
          <a:xfrm>
            <a:off x="4178300" y="3873500"/>
            <a:ext cx="558800" cy="558800"/>
          </a:xfrm>
          <a:prstGeom prst="ellipse">
            <a:avLst/>
          </a:pr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22" name="AutoShape 22"/>
          <p:cNvSpPr/>
          <p:nvPr/>
        </p:nvSpPr>
        <p:spPr>
          <a:xfrm>
            <a:off x="7670800" y="2692400"/>
            <a:ext cx="558800" cy="558800"/>
          </a:xfrm>
          <a:prstGeom prst="ellipse">
            <a:avLst/>
          </a:prstGeom>
          <a:solidFill>
            <a:srgbClr val="CA8A04">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A</a:t>
            </a:r>
            <a:endParaRPr lang="en-US" sz="1100"/>
          </a:p>
        </p:txBody>
      </p:sp>
      <p:sp>
        <p:nvSpPr>
          <p:cNvPr id="23" name="AutoShape 23"/>
          <p:cNvSpPr/>
          <p:nvPr/>
        </p:nvSpPr>
        <p:spPr>
          <a:xfrm>
            <a:off x="7467600" y="3873500"/>
            <a:ext cx="558800" cy="558800"/>
          </a:xfrm>
          <a:prstGeom prst="ellipse">
            <a:avLst/>
          </a:prstGeom>
          <a:solidFill>
            <a:srgbClr val="CA8A04">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B</a:t>
            </a:r>
            <a:endParaRPr lang="en-US" sz="1100"/>
          </a:p>
        </p:txBody>
      </p:sp>
      <p:sp>
        <p:nvSpPr>
          <p:cNvPr id="24" name="AutoShape 24"/>
          <p:cNvSpPr/>
          <p:nvPr/>
        </p:nvSpPr>
        <p:spPr>
          <a:xfrm>
            <a:off x="5130800" y="4737100"/>
            <a:ext cx="558800" cy="558800"/>
          </a:xfrm>
          <a:prstGeom prst="ellipse">
            <a:avLst/>
          </a:pr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25" name="AutoShape 25"/>
          <p:cNvSpPr/>
          <p:nvPr/>
        </p:nvSpPr>
        <p:spPr>
          <a:xfrm>
            <a:off x="6591300" y="4737100"/>
            <a:ext cx="558800" cy="558800"/>
          </a:xfrm>
          <a:prstGeom prst="ellipse">
            <a:avLst/>
          </a:prstGeom>
          <a:solidFill>
            <a:srgbClr val="CA8A04">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C</a:t>
            </a:r>
            <a:endParaRPr lang="en-US" sz="1100"/>
          </a:p>
        </p:txBody>
      </p:sp>
      <p:sp>
        <p:nvSpPr>
          <p:cNvPr id="26" name="Freeform 26"/>
          <p:cNvSpPr/>
          <p:nvPr/>
        </p:nvSpPr>
        <p:spPr>
          <a:xfrm>
            <a:off x="4838700" y="3556000"/>
            <a:ext cx="2499759" cy="1036002"/>
          </a:xfrm>
          <a:custGeom>
            <a:avLst/>
            <a:gdLst/>
            <a:ahLst/>
            <a:cxnLst/>
            <a:rect l="l" t="t" r="r" b="b"/>
            <a:pathLst>
              <a:path w="2499759" h="1036002">
                <a:moveTo>
                  <a:pt x="0" y="0"/>
                </a:moveTo>
                <a:lnTo>
                  <a:pt x="2499759" y="0"/>
                </a:lnTo>
                <a:lnTo>
                  <a:pt x="2495949" y="19679"/>
                </a:lnTo>
                <a:cubicBezTo>
                  <a:pt x="2377215" y="599891"/>
                  <a:pt x="1864183" y="1036002"/>
                  <a:pt x="1249562" y="1036002"/>
                </a:cubicBezTo>
                <a:cubicBezTo>
                  <a:pt x="634940" y="1036002"/>
                  <a:pt x="122544" y="599891"/>
                  <a:pt x="3810" y="19679"/>
                </a:cubicBezTo>
                <a:lnTo>
                  <a:pt x="0" y="0"/>
                </a:ln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4991100" y="1841500"/>
            <a:ext cx="2204085" cy="2372360"/>
          </a:xfrm>
          <a:custGeom>
            <a:avLst/>
            <a:gdLst/>
            <a:ahLst/>
            <a:cxnLst/>
            <a:rect l="l" t="t" r="r" b="b"/>
            <a:pathLst>
              <a:path w="2204085" h="2372360">
                <a:moveTo>
                  <a:pt x="1054129" y="2231387"/>
                </a:moveTo>
                <a:lnTo>
                  <a:pt x="1178705" y="2231387"/>
                </a:lnTo>
                <a:lnTo>
                  <a:pt x="1178705" y="2256028"/>
                </a:lnTo>
                <a:cubicBezTo>
                  <a:pt x="1178705" y="2262873"/>
                  <a:pt x="1173229" y="2268348"/>
                  <a:pt x="1166385" y="2268348"/>
                </a:cubicBezTo>
                <a:lnTo>
                  <a:pt x="1066451" y="2268348"/>
                </a:lnTo>
                <a:cubicBezTo>
                  <a:pt x="1059605" y="2268348"/>
                  <a:pt x="1054129" y="2262873"/>
                  <a:pt x="1054129" y="2256028"/>
                </a:cubicBezTo>
                <a:close/>
                <a:moveTo>
                  <a:pt x="1032226" y="2190321"/>
                </a:moveTo>
                <a:cubicBezTo>
                  <a:pt x="1021274" y="2190321"/>
                  <a:pt x="1011691" y="2199902"/>
                  <a:pt x="1011691" y="2210853"/>
                </a:cubicBezTo>
                <a:lnTo>
                  <a:pt x="1011691" y="2256028"/>
                </a:lnTo>
                <a:cubicBezTo>
                  <a:pt x="1011691" y="2284776"/>
                  <a:pt x="1036333" y="2309415"/>
                  <a:pt x="1065080" y="2309415"/>
                </a:cubicBezTo>
                <a:lnTo>
                  <a:pt x="1165015" y="2309415"/>
                </a:lnTo>
                <a:cubicBezTo>
                  <a:pt x="1195132" y="2309415"/>
                  <a:pt x="1219774" y="2284776"/>
                  <a:pt x="1218405" y="2256028"/>
                </a:cubicBezTo>
                <a:lnTo>
                  <a:pt x="1218405" y="2210853"/>
                </a:lnTo>
                <a:cubicBezTo>
                  <a:pt x="1218405" y="2199902"/>
                  <a:pt x="1208822" y="2190321"/>
                  <a:pt x="1197870" y="2190321"/>
                </a:cubicBezTo>
                <a:close/>
                <a:moveTo>
                  <a:pt x="932293" y="1911054"/>
                </a:moveTo>
                <a:lnTo>
                  <a:pt x="932293" y="1912423"/>
                </a:lnTo>
                <a:lnTo>
                  <a:pt x="932293" y="2006878"/>
                </a:lnTo>
                <a:cubicBezTo>
                  <a:pt x="932293" y="2054790"/>
                  <a:pt x="971992" y="2093120"/>
                  <a:pt x="1019905" y="2093120"/>
                </a:cubicBezTo>
                <a:lnTo>
                  <a:pt x="1210192" y="2093120"/>
                </a:lnTo>
                <a:cubicBezTo>
                  <a:pt x="1258105" y="2093120"/>
                  <a:pt x="1297805" y="2053421"/>
                  <a:pt x="1299174" y="2005509"/>
                </a:cubicBezTo>
                <a:lnTo>
                  <a:pt x="1299174" y="1911054"/>
                </a:lnTo>
                <a:close/>
                <a:moveTo>
                  <a:pt x="1024012" y="1243006"/>
                </a:moveTo>
                <a:lnTo>
                  <a:pt x="1115733" y="1410012"/>
                </a:lnTo>
                <a:lnTo>
                  <a:pt x="1206085" y="1243006"/>
                </a:lnTo>
                <a:close/>
                <a:moveTo>
                  <a:pt x="2004216" y="1000700"/>
                </a:moveTo>
                <a:lnTo>
                  <a:pt x="2152065" y="1000700"/>
                </a:lnTo>
                <a:cubicBezTo>
                  <a:pt x="2180814" y="1000700"/>
                  <a:pt x="2204085" y="1022603"/>
                  <a:pt x="2204085" y="1051350"/>
                </a:cubicBezTo>
                <a:cubicBezTo>
                  <a:pt x="2204085" y="1078728"/>
                  <a:pt x="2180814" y="1102001"/>
                  <a:pt x="2152065" y="1102001"/>
                </a:cubicBezTo>
                <a:lnTo>
                  <a:pt x="2004216" y="1102001"/>
                </a:lnTo>
                <a:cubicBezTo>
                  <a:pt x="1975468" y="1102001"/>
                  <a:pt x="1952197" y="1078728"/>
                  <a:pt x="1952197" y="1051350"/>
                </a:cubicBezTo>
                <a:cubicBezTo>
                  <a:pt x="1952197" y="1023972"/>
                  <a:pt x="1975468" y="1000700"/>
                  <a:pt x="2004216" y="1000700"/>
                </a:cubicBezTo>
                <a:close/>
                <a:moveTo>
                  <a:pt x="52022" y="1000700"/>
                </a:moveTo>
                <a:lnTo>
                  <a:pt x="199869" y="1000700"/>
                </a:lnTo>
                <a:cubicBezTo>
                  <a:pt x="228617" y="1000700"/>
                  <a:pt x="251889" y="1022603"/>
                  <a:pt x="251889" y="1051350"/>
                </a:cubicBezTo>
                <a:cubicBezTo>
                  <a:pt x="251889" y="1078728"/>
                  <a:pt x="228617" y="1102001"/>
                  <a:pt x="199869" y="1102001"/>
                </a:cubicBezTo>
                <a:lnTo>
                  <a:pt x="52022" y="1102001"/>
                </a:lnTo>
                <a:cubicBezTo>
                  <a:pt x="23273" y="1102001"/>
                  <a:pt x="0" y="1078728"/>
                  <a:pt x="0" y="1051350"/>
                </a:cubicBezTo>
                <a:cubicBezTo>
                  <a:pt x="0" y="1023972"/>
                  <a:pt x="23273" y="1000700"/>
                  <a:pt x="52022" y="1000700"/>
                </a:cubicBezTo>
                <a:close/>
                <a:moveTo>
                  <a:pt x="1114363" y="599613"/>
                </a:moveTo>
                <a:cubicBezTo>
                  <a:pt x="833726" y="599613"/>
                  <a:pt x="605109" y="826851"/>
                  <a:pt x="605109" y="1106109"/>
                </a:cubicBezTo>
                <a:cubicBezTo>
                  <a:pt x="605109" y="1308708"/>
                  <a:pt x="725578" y="1492142"/>
                  <a:pt x="911757" y="1571539"/>
                </a:cubicBezTo>
                <a:lnTo>
                  <a:pt x="943243" y="1585229"/>
                </a:lnTo>
                <a:lnTo>
                  <a:pt x="943243" y="1711168"/>
                </a:lnTo>
                <a:lnTo>
                  <a:pt x="1058236" y="1711168"/>
                </a:lnTo>
                <a:lnTo>
                  <a:pt x="1058236" y="1477084"/>
                </a:lnTo>
                <a:cubicBezTo>
                  <a:pt x="1051391" y="1471609"/>
                  <a:pt x="1047284" y="1464765"/>
                  <a:pt x="1043178" y="1457919"/>
                </a:cubicBezTo>
                <a:lnTo>
                  <a:pt x="1043178" y="1456552"/>
                </a:lnTo>
                <a:lnTo>
                  <a:pt x="917232" y="1226574"/>
                </a:lnTo>
                <a:cubicBezTo>
                  <a:pt x="904913" y="1204671"/>
                  <a:pt x="904913" y="1178662"/>
                  <a:pt x="918602" y="1156759"/>
                </a:cubicBezTo>
                <a:cubicBezTo>
                  <a:pt x="933660" y="1133488"/>
                  <a:pt x="958301" y="1119798"/>
                  <a:pt x="987050" y="1119798"/>
                </a:cubicBezTo>
                <a:lnTo>
                  <a:pt x="1238940" y="1119798"/>
                </a:lnTo>
                <a:cubicBezTo>
                  <a:pt x="1266318" y="1119798"/>
                  <a:pt x="1292328" y="1133488"/>
                  <a:pt x="1306017" y="1156759"/>
                </a:cubicBezTo>
                <a:cubicBezTo>
                  <a:pt x="1319708" y="1178662"/>
                  <a:pt x="1319708" y="1206040"/>
                  <a:pt x="1307388" y="1227943"/>
                </a:cubicBezTo>
                <a:lnTo>
                  <a:pt x="1182812" y="1457919"/>
                </a:lnTo>
                <a:cubicBezTo>
                  <a:pt x="1178705" y="1464765"/>
                  <a:pt x="1174598" y="1471609"/>
                  <a:pt x="1167752" y="1477084"/>
                </a:cubicBezTo>
                <a:lnTo>
                  <a:pt x="1167752" y="1709800"/>
                </a:lnTo>
                <a:lnTo>
                  <a:pt x="1282746" y="1709800"/>
                </a:lnTo>
                <a:lnTo>
                  <a:pt x="1282746" y="1583860"/>
                </a:lnTo>
                <a:lnTo>
                  <a:pt x="1315601" y="1570171"/>
                </a:lnTo>
                <a:cubicBezTo>
                  <a:pt x="1501780" y="1489405"/>
                  <a:pt x="1622248" y="1307339"/>
                  <a:pt x="1623618" y="1106109"/>
                </a:cubicBezTo>
                <a:cubicBezTo>
                  <a:pt x="1623618" y="826851"/>
                  <a:pt x="1395000" y="599613"/>
                  <a:pt x="1114363" y="599613"/>
                </a:cubicBezTo>
                <a:close/>
                <a:moveTo>
                  <a:pt x="1114363" y="429873"/>
                </a:moveTo>
                <a:cubicBezTo>
                  <a:pt x="1483982" y="429873"/>
                  <a:pt x="1786523" y="731035"/>
                  <a:pt x="1790630" y="1100640"/>
                </a:cubicBezTo>
                <a:cubicBezTo>
                  <a:pt x="1790630" y="1225212"/>
                  <a:pt x="1755037" y="1348414"/>
                  <a:pt x="1687958" y="1455189"/>
                </a:cubicBezTo>
                <a:cubicBezTo>
                  <a:pt x="1620879" y="1560595"/>
                  <a:pt x="1525052" y="1646837"/>
                  <a:pt x="1412796" y="1701593"/>
                </a:cubicBezTo>
                <a:lnTo>
                  <a:pt x="1405952" y="1704331"/>
                </a:lnTo>
                <a:lnTo>
                  <a:pt x="1405952" y="2005491"/>
                </a:lnTo>
                <a:cubicBezTo>
                  <a:pt x="1405952" y="2080782"/>
                  <a:pt x="1360776" y="2150596"/>
                  <a:pt x="1290959" y="2180712"/>
                </a:cubicBezTo>
                <a:lnTo>
                  <a:pt x="1284115" y="2183450"/>
                </a:lnTo>
                <a:lnTo>
                  <a:pt x="1284115" y="2254634"/>
                </a:lnTo>
                <a:cubicBezTo>
                  <a:pt x="1284115" y="2320341"/>
                  <a:pt x="1230725" y="2372360"/>
                  <a:pt x="1166383" y="2372360"/>
                </a:cubicBezTo>
                <a:lnTo>
                  <a:pt x="1066449" y="2372360"/>
                </a:lnTo>
                <a:cubicBezTo>
                  <a:pt x="1002107" y="2372360"/>
                  <a:pt x="948718" y="2318972"/>
                  <a:pt x="948718" y="2254634"/>
                </a:cubicBezTo>
                <a:lnTo>
                  <a:pt x="948718" y="2183450"/>
                </a:lnTo>
                <a:lnTo>
                  <a:pt x="941874" y="2180712"/>
                </a:lnTo>
                <a:cubicBezTo>
                  <a:pt x="872057" y="2149227"/>
                  <a:pt x="826880" y="2080782"/>
                  <a:pt x="826880" y="2005491"/>
                </a:cubicBezTo>
                <a:lnTo>
                  <a:pt x="826880" y="1702962"/>
                </a:lnTo>
                <a:lnTo>
                  <a:pt x="820036" y="1700224"/>
                </a:lnTo>
                <a:cubicBezTo>
                  <a:pt x="706412" y="1645468"/>
                  <a:pt x="611953" y="1560595"/>
                  <a:pt x="544874" y="1453820"/>
                </a:cubicBezTo>
                <a:cubicBezTo>
                  <a:pt x="477796" y="1348414"/>
                  <a:pt x="442201" y="1225212"/>
                  <a:pt x="442201" y="1099271"/>
                </a:cubicBezTo>
                <a:cubicBezTo>
                  <a:pt x="442201" y="729666"/>
                  <a:pt x="743374" y="429873"/>
                  <a:pt x="1114363" y="429873"/>
                </a:cubicBezTo>
                <a:close/>
                <a:moveTo>
                  <a:pt x="1883057" y="300826"/>
                </a:moveTo>
                <a:cubicBezTo>
                  <a:pt x="1896062" y="300826"/>
                  <a:pt x="1909067" y="305960"/>
                  <a:pt x="1919333" y="316226"/>
                </a:cubicBezTo>
                <a:cubicBezTo>
                  <a:pt x="1939869" y="336760"/>
                  <a:pt x="1939869" y="368244"/>
                  <a:pt x="1919333" y="388779"/>
                </a:cubicBezTo>
                <a:lnTo>
                  <a:pt x="1813923" y="494185"/>
                </a:lnTo>
                <a:cubicBezTo>
                  <a:pt x="1802972" y="503766"/>
                  <a:pt x="1790652" y="509242"/>
                  <a:pt x="1776962" y="509242"/>
                </a:cubicBezTo>
                <a:cubicBezTo>
                  <a:pt x="1764641" y="509242"/>
                  <a:pt x="1750952" y="503766"/>
                  <a:pt x="1741368" y="494185"/>
                </a:cubicBezTo>
                <a:cubicBezTo>
                  <a:pt x="1720835" y="473650"/>
                  <a:pt x="1720835" y="442166"/>
                  <a:pt x="1741368" y="421632"/>
                </a:cubicBezTo>
                <a:lnTo>
                  <a:pt x="1846779" y="316226"/>
                </a:lnTo>
                <a:cubicBezTo>
                  <a:pt x="1857046" y="305960"/>
                  <a:pt x="1870051" y="300826"/>
                  <a:pt x="1883057" y="300826"/>
                </a:cubicBezTo>
                <a:close/>
                <a:moveTo>
                  <a:pt x="322397" y="300826"/>
                </a:moveTo>
                <a:cubicBezTo>
                  <a:pt x="335403" y="300826"/>
                  <a:pt x="348408" y="305960"/>
                  <a:pt x="358675" y="316226"/>
                </a:cubicBezTo>
                <a:lnTo>
                  <a:pt x="464086" y="421632"/>
                </a:lnTo>
                <a:cubicBezTo>
                  <a:pt x="484619" y="442166"/>
                  <a:pt x="484619" y="473650"/>
                  <a:pt x="464086" y="494185"/>
                </a:cubicBezTo>
                <a:cubicBezTo>
                  <a:pt x="453133" y="503766"/>
                  <a:pt x="440813" y="509242"/>
                  <a:pt x="427124" y="509242"/>
                </a:cubicBezTo>
                <a:cubicBezTo>
                  <a:pt x="413435" y="509242"/>
                  <a:pt x="399744" y="503766"/>
                  <a:pt x="390162" y="494185"/>
                </a:cubicBezTo>
                <a:lnTo>
                  <a:pt x="286121" y="388779"/>
                </a:lnTo>
                <a:cubicBezTo>
                  <a:pt x="265586" y="368244"/>
                  <a:pt x="265586" y="336760"/>
                  <a:pt x="286121" y="316226"/>
                </a:cubicBezTo>
                <a:cubicBezTo>
                  <a:pt x="296388" y="305960"/>
                  <a:pt x="309392" y="300826"/>
                  <a:pt x="322397" y="300826"/>
                </a:cubicBezTo>
                <a:close/>
                <a:moveTo>
                  <a:pt x="1102042" y="0"/>
                </a:moveTo>
                <a:cubicBezTo>
                  <a:pt x="1130791" y="0"/>
                  <a:pt x="1154064" y="21902"/>
                  <a:pt x="1154064" y="50650"/>
                </a:cubicBezTo>
                <a:lnTo>
                  <a:pt x="1154064" y="199861"/>
                </a:lnTo>
                <a:cubicBezTo>
                  <a:pt x="1154064" y="227239"/>
                  <a:pt x="1130791" y="250511"/>
                  <a:pt x="1102042" y="250511"/>
                </a:cubicBezTo>
                <a:cubicBezTo>
                  <a:pt x="1073296" y="250511"/>
                  <a:pt x="1051392" y="227239"/>
                  <a:pt x="1050023" y="198491"/>
                </a:cubicBezTo>
                <a:lnTo>
                  <a:pt x="1050023" y="50650"/>
                </a:lnTo>
                <a:cubicBezTo>
                  <a:pt x="1050023" y="23270"/>
                  <a:pt x="1073296" y="0"/>
                  <a:pt x="1102042" y="0"/>
                </a:cubicBez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4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项目目标与技术方案</a:t>
            </a:r>
            <a:endParaRPr lang="en-US" sz="1100"/>
          </a:p>
        </p:txBody>
      </p:sp>
      <p:sp>
        <p:nvSpPr>
          <p:cNvPr id="31" name="AutoShape 31"/>
          <p:cNvSpPr/>
          <p:nvPr/>
        </p:nvSpPr>
        <p:spPr>
          <a:xfrm>
            <a:off x="2921000" y="4191000"/>
            <a:ext cx="6350000" cy="1270000"/>
          </a:xfrm>
          <a:prstGeom prst="rect">
            <a:avLst/>
          </a:prstGeom>
          <a:noFill/>
          <a:ln w="12700" cap="flat" cmpd="sng">
            <a:noFill/>
            <a:prstDash val="solid"/>
            <a:round/>
          </a:ln>
        </p:spPr>
        <p:txBody>
          <a:bodyPr vert="horz" wrap="square" lIns="0" tIns="0" rIns="0" bIns="0" rtlCol="0" anchor="t" anchorCtr="0"/>
          <a:lstStyle/>
          <a:p>
            <a:pPr indent="0" algn="ctr">
              <a:lnSpc>
                <a:spcPct val="150000"/>
              </a:lnSpc>
              <a:defRPr/>
            </a:pPr>
            <a:r>
              <a:rPr lang="en-US" sz="18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阐述项目的演进路线图与具体的技术实现。</a:t>
            </a:r>
            <a:endParaRPr lang="en-US" sz="1100"/>
          </a:p>
          <a:p>
            <a:pPr indent="0" algn="ctr">
              <a:lnSpc>
                <a:spcPct val="125000"/>
              </a:lnSpc>
            </a:pPr>
            <a:endParaRPr lang="en-US" sz="1400" b="0" i="0" u="none" strike="noStrike">
              <a:solidFill>
                <a:srgbClr val="8F959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609600" y="482600"/>
            <a:ext cx="1524000" cy="1143000"/>
          </a:xfrm>
          <a:prstGeom prst="rect">
            <a:avLst/>
          </a:prstGeom>
          <a:noFill/>
          <a:ln w="12700" cap="flat" cmpd="sng">
            <a:noFill/>
            <a:prstDash val="solid"/>
            <a:round/>
          </a:ln>
        </p:spPr>
        <p:txBody>
          <a:bodyPr vert="horz" wrap="square" lIns="0" tIns="0" rIns="0" bIns="0" rtlCol="0" anchor="t" anchorCtr="0"/>
          <a:lstStyle/>
          <a:p>
            <a:pPr indent="0" algn="l">
              <a:lnSpc>
                <a:spcPct val="92000"/>
              </a:lnSpc>
              <a:defRPr/>
            </a:pPr>
            <a:r>
              <a:rPr lang="en-US" sz="26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92000"/>
              </a:lnSpc>
            </a:pPr>
            <a:r>
              <a:rPr lang="en-US" sz="3200" b="1"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3200" b="1"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33" name="AutoShape 33"/>
          <p:cNvSpPr/>
          <p:nvPr/>
        </p:nvSpPr>
        <p:spPr>
          <a:xfrm>
            <a:off x="8470900" y="508000"/>
            <a:ext cx="3086100" cy="381000"/>
          </a:xfrm>
          <a:prstGeom prst="rect">
            <a:avLst/>
          </a:prstGeom>
          <a:noFill/>
          <a:ln w="12700" cap="flat" cmpd="sng">
            <a:noFill/>
            <a:prstDash val="solid"/>
            <a:round/>
          </a:ln>
        </p:spPr>
        <p:txBody>
          <a:bodyPr vert="horz" wrap="square" lIns="0" tIns="0" rIns="0" bIns="0" rtlCol="0" anchor="ctr" anchorCtr="0"/>
          <a:lstStyle/>
          <a:p>
            <a:pPr indent="0" algn="r">
              <a:lnSpc>
                <a:spcPct val="117000"/>
              </a:lnSpc>
              <a:defRPr/>
            </a:pPr>
            <a:r>
              <a:rPr lang="en-US" sz="1400" b="0" i="0" u="none" strike="noStrike">
                <a:solidFill>
                  <a:srgbClr val="646A73"/>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 · 技术 · 蓝图</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09600" y="1905000"/>
            <a:ext cx="4381500" cy="901700"/>
          </a:xfrm>
          <a:prstGeom prst="roundRect">
            <a:avLst>
              <a:gd name="adj" fmla="val 0"/>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4660900" y="1905000"/>
            <a:ext cx="6896100" cy="9017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项目演进路线图 (Roadmap)</a:t>
            </a:r>
            <a:endParaRPr lang="en-US" sz="1100"/>
          </a:p>
        </p:txBody>
      </p:sp>
      <p:sp>
        <p:nvSpPr>
          <p:cNvPr id="9" name="AutoShape 9"/>
          <p:cNvSpPr/>
          <p:nvPr/>
        </p:nvSpPr>
        <p:spPr>
          <a:xfrm>
            <a:off x="4991100" y="2070100"/>
            <a:ext cx="6299200" cy="5588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以浏览器插件为起点，逐步攻克多模态融合技术难点，最终实现跨端生态覆盖。</a:t>
            </a:r>
            <a:endParaRPr lang="en-US" sz="1100"/>
          </a:p>
        </p:txBody>
      </p:sp>
      <p:cxnSp>
        <p:nvCxnSpPr>
          <p:cNvPr id="10" name="Connector 10"/>
          <p:cNvCxnSpPr/>
          <p:nvPr>
            <p:custDataLst>
              <p:tags r:id="rId1"/>
            </p:custDataLst>
          </p:nvPr>
        </p:nvCxnSpPr>
        <p:spPr>
          <a:xfrm>
            <a:off x="622300" y="4864100"/>
            <a:ext cx="10922007" cy="12700"/>
          </a:xfrm>
          <a:prstGeom prst="line">
            <a:avLst/>
          </a:prstGeom>
          <a:solidFill>
            <a:srgbClr val="DEE0E3">
              <a:alpha val="100000"/>
            </a:srgbClr>
          </a:solidFill>
          <a:ln w="12700" cap="flat" cmpd="sng">
            <a:solidFill>
              <a:srgbClr val="0C1B7F">
                <a:alpha val="100000"/>
              </a:srgbClr>
            </a:solidFill>
            <a:prstDash val="sysDash"/>
            <a:miter lim="10000000"/>
            <a:headEnd type="none" w="med" len="med"/>
            <a:tailEnd type="none" w="med" len="med"/>
          </a:ln>
        </p:spPr>
      </p:cxnSp>
      <p:sp>
        <p:nvSpPr>
          <p:cNvPr id="11" name="AutoShape 11"/>
          <p:cNvSpPr/>
          <p:nvPr>
            <p:custDataLst>
              <p:tags r:id="rId2"/>
            </p:custDataLst>
          </p:nvPr>
        </p:nvSpPr>
        <p:spPr>
          <a:xfrm>
            <a:off x="622300" y="4775200"/>
            <a:ext cx="177800" cy="177800"/>
          </a:xfrm>
          <a:prstGeom prst="ellipse">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3"/>
            </p:custDataLst>
          </p:nvPr>
        </p:nvSpPr>
        <p:spPr>
          <a:xfrm>
            <a:off x="3556000" y="4775200"/>
            <a:ext cx="177800" cy="177800"/>
          </a:xfrm>
          <a:prstGeom prst="ellipse">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4"/>
            </p:custDataLst>
          </p:nvPr>
        </p:nvSpPr>
        <p:spPr>
          <a:xfrm>
            <a:off x="6464300" y="4775200"/>
            <a:ext cx="177800" cy="177800"/>
          </a:xfrm>
          <a:prstGeom prst="ellipse">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custDataLst>
              <p:tags r:id="rId5"/>
            </p:custDataLst>
          </p:nvPr>
        </p:nvSpPr>
        <p:spPr>
          <a:xfrm>
            <a:off x="9385300" y="4775200"/>
            <a:ext cx="177800" cy="177800"/>
          </a:xfrm>
          <a:prstGeom prst="ellipse">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6"/>
            </p:custDataLst>
          </p:nvPr>
        </p:nvSpPr>
        <p:spPr>
          <a:xfrm>
            <a:off x="635000" y="5118100"/>
            <a:ext cx="2413000" cy="368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21AAFE"/>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阶段一 (当前)：独立模块</a:t>
            </a:r>
            <a:endParaRPr lang="en-US" sz="1100"/>
          </a:p>
        </p:txBody>
      </p:sp>
      <p:sp>
        <p:nvSpPr>
          <p:cNvPr id="16" name="AutoShape 16"/>
          <p:cNvSpPr/>
          <p:nvPr>
            <p:custDataLst>
              <p:tags r:id="rId7"/>
            </p:custDataLst>
          </p:nvPr>
        </p:nvSpPr>
        <p:spPr>
          <a:xfrm>
            <a:off x="635000" y="5588000"/>
            <a:ext cx="2413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完成声音交互模块功能Demo开发</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完成手势交互模块</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a:t>
            </a: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Demo</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完成眼动追踪模块技术预研</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与原型</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a:t>
            </a:r>
            <a:endPar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8"/>
            </p:custDataLst>
          </p:nvPr>
        </p:nvSpPr>
        <p:spPr>
          <a:xfrm>
            <a:off x="6451600" y="5118100"/>
            <a:ext cx="2413000" cy="368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E9535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阶段三：</a:t>
            </a:r>
            <a:r>
              <a:rPr lang="zh-CN" altLang="en-US" sz="1800" b="0" i="0" u="none" strike="noStrike">
                <a:solidFill>
                  <a:srgbClr val="E9535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模块整合与</a:t>
            </a:r>
            <a:r>
              <a:rPr lang="zh-CN" altLang="en-US" sz="1800" b="0" i="0" u="none" strike="noStrike">
                <a:solidFill>
                  <a:srgbClr val="E95354"/>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协同</a:t>
            </a:r>
            <a:endParaRPr lang="zh-CN" altLang="en-US" sz="1800" b="0" i="0" u="none" strike="noStrike">
              <a:solidFill>
                <a:srgbClr val="E95354"/>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18" name="AutoShape 18"/>
          <p:cNvSpPr/>
          <p:nvPr>
            <p:custDataLst>
              <p:tags r:id="rId9"/>
            </p:custDataLst>
          </p:nvPr>
        </p:nvSpPr>
        <p:spPr>
          <a:xfrm>
            <a:off x="6451600" y="5588000"/>
            <a:ext cx="2413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实现多模态指令融合</a:t>
            </a:r>
            <a:r>
              <a:rPr lang="zh-CN" altLang="en-US" sz="12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协作，三位一体</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优化交互逻辑，降低误触率</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整合核心模块，完成整体功能测试</a:t>
            </a:r>
            <a:endParaRPr lang="en-US" sz="1100"/>
          </a:p>
        </p:txBody>
      </p:sp>
      <p:sp>
        <p:nvSpPr>
          <p:cNvPr id="19" name="AutoShape 19"/>
          <p:cNvSpPr/>
          <p:nvPr>
            <p:custDataLst>
              <p:tags r:id="rId10"/>
            </p:custDataLst>
          </p:nvPr>
        </p:nvSpPr>
        <p:spPr>
          <a:xfrm>
            <a:off x="3543300" y="3238500"/>
            <a:ext cx="2413000" cy="368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阶段二：模块</a:t>
            </a:r>
            <a:r>
              <a:rPr lang="zh-CN" altLang="en-US" sz="1800" b="0"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补全与功能</a:t>
            </a:r>
            <a:r>
              <a:rPr lang="zh-CN" altLang="en-US" sz="1800" b="0"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完善</a:t>
            </a:r>
            <a:endParaRPr lang="zh-CN" altLang="en-US" sz="1800" b="0" i="0" u="none" strike="noStrike">
              <a:solidFill>
                <a:srgbClr val="F9B312"/>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20" name="AutoShape 20"/>
          <p:cNvSpPr/>
          <p:nvPr>
            <p:custDataLst>
              <p:tags r:id="rId11"/>
            </p:custDataLst>
          </p:nvPr>
        </p:nvSpPr>
        <p:spPr>
          <a:xfrm>
            <a:off x="3543300" y="3810000"/>
            <a:ext cx="2413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完成眼动追踪模块功能</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完善三大模块的功能，支持更多场景、特定</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网页</a:t>
            </a:r>
            <a:endPar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12"/>
            </p:custDataLst>
          </p:nvPr>
        </p:nvSpPr>
        <p:spPr>
          <a:xfrm>
            <a:off x="9359900" y="3238500"/>
            <a:ext cx="2413000" cy="368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未来展望：持续迭代</a:t>
            </a:r>
            <a:endParaRPr lang="en-US" sz="1100"/>
          </a:p>
        </p:txBody>
      </p:sp>
      <p:sp>
        <p:nvSpPr>
          <p:cNvPr id="22" name="AutoShape 22"/>
          <p:cNvSpPr/>
          <p:nvPr>
            <p:custDataLst>
              <p:tags r:id="rId13"/>
            </p:custDataLst>
          </p:nvPr>
        </p:nvSpPr>
        <p:spPr>
          <a:xfrm>
            <a:off x="9359900" y="3810000"/>
            <a:ext cx="2413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持续优化算法，提升识别准确率</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拓展平台，拓展到移动端、车载电脑等平台</a:t>
            </a:r>
            <a:b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探索应用新场景</a:t>
            </a:r>
            <a:endParaRPr lang="en-US" sz="1100"/>
          </a:p>
        </p:txBody>
      </p:sp>
      <p:sp>
        <p:nvSpPr>
          <p:cNvPr id="23" name="AutoShape 23"/>
          <p:cNvSpPr/>
          <p:nvPr>
            <p:custDataLst>
              <p:tags r:id="rId14"/>
            </p:custDataLst>
          </p:nvPr>
        </p:nvSpPr>
        <p:spPr>
          <a:xfrm>
            <a:off x="609600" y="4000500"/>
            <a:ext cx="622300" cy="622300"/>
          </a:xfrm>
          <a:prstGeom prst="wedgeRectCallout">
            <a:avLst>
              <a:gd name="adj1" fmla="val -32395"/>
              <a:gd name="adj2" fmla="val 78863"/>
            </a:avLst>
          </a:prstGeom>
          <a:solidFill>
            <a:srgbClr val="21AAFE">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24" name="AutoShape 24"/>
          <p:cNvSpPr/>
          <p:nvPr>
            <p:custDataLst>
              <p:tags r:id="rId15"/>
            </p:custDataLst>
          </p:nvPr>
        </p:nvSpPr>
        <p:spPr>
          <a:xfrm>
            <a:off x="6464300" y="4000500"/>
            <a:ext cx="622300" cy="622300"/>
          </a:xfrm>
          <a:prstGeom prst="wedgeRectCallout">
            <a:avLst>
              <a:gd name="adj1" fmla="val -32395"/>
              <a:gd name="adj2" fmla="val 78863"/>
            </a:avLst>
          </a:prstGeom>
          <a:solidFill>
            <a:srgbClr val="E95354">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25" name="AutoShape 25"/>
          <p:cNvSpPr/>
          <p:nvPr>
            <p:custDataLst>
              <p:tags r:id="rId16"/>
            </p:custDataLst>
          </p:nvPr>
        </p:nvSpPr>
        <p:spPr>
          <a:xfrm>
            <a:off x="3517900" y="5270500"/>
            <a:ext cx="622300" cy="622300"/>
          </a:xfrm>
          <a:prstGeom prst="wedgeRectCallout">
            <a:avLst>
              <a:gd name="adj1" fmla="val -25332"/>
              <a:gd name="adj2" fmla="val -79273"/>
            </a:avLst>
          </a:prstGeom>
          <a:solidFill>
            <a:srgbClr val="F9B312">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26" name="AutoShape 26"/>
          <p:cNvSpPr/>
          <p:nvPr>
            <p:custDataLst>
              <p:tags r:id="rId17"/>
            </p:custDataLst>
          </p:nvPr>
        </p:nvSpPr>
        <p:spPr>
          <a:xfrm>
            <a:off x="9359900" y="5270500"/>
            <a:ext cx="622300" cy="622300"/>
          </a:xfrm>
          <a:prstGeom prst="wedgeRectCallout">
            <a:avLst>
              <a:gd name="adj1" fmla="val -25332"/>
              <a:gd name="adj2" fmla="val -79273"/>
            </a:avLst>
          </a:pr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6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FUT</a:t>
            </a:r>
            <a:endParaRPr lang="en-US" sz="1100"/>
          </a:p>
        </p:txBody>
      </p:sp>
      <p:sp>
        <p:nvSpPr>
          <p:cNvPr id="27" name="AutoShape 27"/>
          <p:cNvSpPr/>
          <p:nvPr/>
        </p:nvSpPr>
        <p:spPr>
          <a:xfrm>
            <a:off x="1181100" y="2197100"/>
            <a:ext cx="3238500" cy="304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演进策略：单点验证 → 生态构建</a:t>
            </a:r>
            <a:endParaRPr lang="en-US" sz="1100"/>
          </a:p>
        </p:txBody>
      </p:sp>
      <p:sp>
        <p:nvSpPr>
          <p:cNvPr id="28" name="AutoShape 28"/>
          <p:cNvSpPr/>
          <p:nvPr/>
        </p:nvSpPr>
        <p:spPr>
          <a:xfrm>
            <a:off x="838200" y="22479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技术方案 - 总体架构</a:t>
            </a:r>
            <a:endParaRPr lang="en-US" sz="1100"/>
          </a:p>
        </p:txBody>
      </p:sp>
      <p:sp>
        <p:nvSpPr>
          <p:cNvPr id="31" name="AutoShape 31"/>
          <p:cNvSpPr/>
          <p:nvPr/>
        </p:nvSpPr>
        <p:spPr>
          <a:xfrm>
            <a:off x="3175000" y="4191000"/>
            <a:ext cx="5842000" cy="1270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600" b="0" i="0" u="none" strike="noStrike">
                <a:solidFill>
                  <a:srgbClr val="434851"/>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展示我们项目的技术实现方案，从整体架构入手，分模块解析其工作流程。</a:t>
            </a:r>
            <a:endParaRPr lang="en-US" sz="1100"/>
          </a:p>
        </p:txBody>
      </p:sp>
      <p:sp>
        <p:nvSpPr>
          <p:cNvPr id="32" name="AutoShape 32"/>
          <p:cNvSpPr/>
          <p:nvPr/>
        </p:nvSpPr>
        <p:spPr>
          <a:xfrm>
            <a:off x="609600" y="482600"/>
            <a:ext cx="1397000" cy="952500"/>
          </a:xfrm>
          <a:prstGeom prst="rect">
            <a:avLst/>
          </a:prstGeom>
          <a:noFill/>
          <a:ln w="12700" cap="flat" cmpd="sng">
            <a:noFill/>
            <a:prstDash val="solid"/>
            <a:round/>
          </a:ln>
        </p:spPr>
        <p:txBody>
          <a:bodyPr vert="horz" wrap="square" lIns="0" tIns="0" rIns="0" bIns="0" rtlCol="0" anchor="t" anchorCtr="0"/>
          <a:lstStyle/>
          <a:p>
            <a:pPr indent="0" algn="l">
              <a:lnSpc>
                <a:spcPct val="92000"/>
              </a:lnSpc>
              <a:defRPr/>
            </a:pPr>
            <a:r>
              <a:rPr lang="en-US" sz="2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92000"/>
              </a:lnSpc>
            </a:pPr>
            <a:r>
              <a:rPr lang="en-US" sz="2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2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系统架构设计</a:t>
            </a:r>
            <a:endParaRPr lang="en-US" sz="1100"/>
          </a:p>
        </p:txBody>
      </p:sp>
      <p:sp>
        <p:nvSpPr>
          <p:cNvPr id="7" name="AutoShape 7"/>
          <p:cNvSpPr/>
          <p:nvPr/>
        </p:nvSpPr>
        <p:spPr>
          <a:xfrm>
            <a:off x="622300" y="31877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摄像头捕获 → 帧差法解析 → 质心追踪 → 悬浮触发</a:t>
            </a:r>
            <a:endParaRPr lang="en-US" sz="1100"/>
          </a:p>
        </p:txBody>
      </p:sp>
      <p:sp>
        <p:nvSpPr>
          <p:cNvPr id="8" name="AutoShape 8"/>
          <p:cNvSpPr/>
          <p:nvPr/>
        </p:nvSpPr>
        <p:spPr>
          <a:xfrm>
            <a:off x="622300" y="28067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手势交互流</a:t>
            </a:r>
            <a:endParaRPr lang="en-US" sz="1100"/>
          </a:p>
        </p:txBody>
      </p:sp>
      <p:sp>
        <p:nvSpPr>
          <p:cNvPr id="9" name="AutoShape 9"/>
          <p:cNvSpPr/>
          <p:nvPr/>
        </p:nvSpPr>
        <p:spPr>
          <a:xfrm>
            <a:off x="622300" y="57277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摄像头捕获 → WebGazer追踪 → 视线定位 → 注视选择</a:t>
            </a:r>
            <a:endParaRPr lang="en-US" sz="1100"/>
          </a:p>
        </p:txBody>
      </p:sp>
      <p:sp>
        <p:nvSpPr>
          <p:cNvPr id="10" name="AutoShape 10"/>
          <p:cNvSpPr/>
          <p:nvPr/>
        </p:nvSpPr>
        <p:spPr>
          <a:xfrm>
            <a:off x="622300" y="53340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眼动追踪流</a:t>
            </a:r>
            <a:endParaRPr lang="en-US" sz="1100"/>
          </a:p>
        </p:txBody>
      </p:sp>
      <p:sp>
        <p:nvSpPr>
          <p:cNvPr id="11" name="AutoShape 11"/>
          <p:cNvSpPr/>
          <p:nvPr/>
        </p:nvSpPr>
        <p:spPr>
          <a:xfrm>
            <a:off x="8534400" y="32131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麦克风录入 → STT转写 → LLM意图解析 → DOM执行</a:t>
            </a:r>
            <a:endParaRPr lang="en-US" sz="1100"/>
          </a:p>
        </p:txBody>
      </p:sp>
      <p:sp>
        <p:nvSpPr>
          <p:cNvPr id="12" name="AutoShape 12"/>
          <p:cNvSpPr/>
          <p:nvPr/>
        </p:nvSpPr>
        <p:spPr>
          <a:xfrm>
            <a:off x="8534400" y="28321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语音交互流</a:t>
            </a:r>
            <a:endParaRPr lang="en-US" sz="1100"/>
          </a:p>
        </p:txBody>
      </p:sp>
      <p:sp>
        <p:nvSpPr>
          <p:cNvPr id="13" name="AutoShape 13"/>
          <p:cNvSpPr/>
          <p:nvPr/>
        </p:nvSpPr>
        <p:spPr>
          <a:xfrm>
            <a:off x="8534400" y="5753100"/>
            <a:ext cx="3048000" cy="1016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三个模态可独立运行，亦可协同工作，保证系统的灵活性与可扩展性。</a:t>
            </a:r>
            <a:endParaRPr lang="en-US" sz="1100"/>
          </a:p>
        </p:txBody>
      </p:sp>
      <p:sp>
        <p:nvSpPr>
          <p:cNvPr id="14" name="AutoShape 14"/>
          <p:cNvSpPr/>
          <p:nvPr/>
        </p:nvSpPr>
        <p:spPr>
          <a:xfrm>
            <a:off x="8534400" y="5359400"/>
            <a:ext cx="3048000" cy="3048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核心解耦原则</a:t>
            </a:r>
            <a:endParaRPr lang="en-US" sz="1100"/>
          </a:p>
        </p:txBody>
      </p:sp>
      <p:sp>
        <p:nvSpPr>
          <p:cNvPr id="15" name="AutoShape 15"/>
          <p:cNvSpPr/>
          <p:nvPr/>
        </p:nvSpPr>
        <p:spPr>
          <a:xfrm rot="10800000" flipV="1">
            <a:off x="4559300" y="2959100"/>
            <a:ext cx="2921000" cy="3556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5400000" flipV="1">
            <a:off x="5842000" y="4038600"/>
            <a:ext cx="2921000" cy="3556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4559300" y="5321300"/>
            <a:ext cx="2921000" cy="3556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5400000" flipV="1">
            <a:off x="3492500" y="4013200"/>
            <a:ext cx="2921000" cy="3556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rot="-5400000">
            <a:off x="6845300" y="5029200"/>
            <a:ext cx="956945" cy="937260"/>
          </a:xfrm>
          <a:custGeom>
            <a:avLst/>
            <a:gdLst/>
            <a:ahLst/>
            <a:cxnLst/>
            <a:rect l="l" t="t" r="r" b="b"/>
            <a:pathLst>
              <a:path w="956945" h="937260">
                <a:moveTo>
                  <a:pt x="166741" y="0"/>
                </a:moveTo>
                <a:lnTo>
                  <a:pt x="956945" y="0"/>
                </a:lnTo>
                <a:lnTo>
                  <a:pt x="956945" y="770520"/>
                </a:lnTo>
                <a:cubicBezTo>
                  <a:pt x="956945" y="862693"/>
                  <a:pt x="882378" y="937260"/>
                  <a:pt x="790204" y="937260"/>
                </a:cubicBezTo>
                <a:lnTo>
                  <a:pt x="125315" y="937260"/>
                </a:lnTo>
                <a:cubicBezTo>
                  <a:pt x="84924" y="937260"/>
                  <a:pt x="47640" y="922760"/>
                  <a:pt x="18642" y="898942"/>
                </a:cubicBezTo>
                <a:lnTo>
                  <a:pt x="11392" y="892727"/>
                </a:lnTo>
                <a:lnTo>
                  <a:pt x="7249" y="881336"/>
                </a:lnTo>
                <a:cubicBezTo>
                  <a:pt x="3106" y="865801"/>
                  <a:pt x="0" y="849230"/>
                  <a:pt x="0" y="831624"/>
                </a:cubicBezTo>
                <a:lnTo>
                  <a:pt x="0" y="166740"/>
                </a:lnTo>
                <a:cubicBezTo>
                  <a:pt x="0" y="74567"/>
                  <a:pt x="74567" y="0"/>
                  <a:pt x="166741" y="0"/>
                </a:cubicBez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rot="-5400000">
            <a:off x="6819900" y="2616200"/>
            <a:ext cx="997585" cy="937260"/>
          </a:xfrm>
          <a:custGeom>
            <a:avLst/>
            <a:gdLst/>
            <a:ahLst/>
            <a:cxnLst/>
            <a:rect l="l" t="t" r="r" b="b"/>
            <a:pathLst>
              <a:path w="997585" h="937260">
                <a:moveTo>
                  <a:pt x="0" y="0"/>
                </a:moveTo>
                <a:lnTo>
                  <a:pt x="832011" y="0"/>
                </a:lnTo>
                <a:cubicBezTo>
                  <a:pt x="915833" y="0"/>
                  <a:pt x="984132" y="61104"/>
                  <a:pt x="996550" y="140848"/>
                </a:cubicBezTo>
                <a:lnTo>
                  <a:pt x="997585" y="148097"/>
                </a:lnTo>
                <a:lnTo>
                  <a:pt x="997585" y="770520"/>
                </a:lnTo>
                <a:cubicBezTo>
                  <a:pt x="997585" y="862693"/>
                  <a:pt x="923077" y="937260"/>
                  <a:pt x="830976" y="937260"/>
                </a:cubicBezTo>
                <a:lnTo>
                  <a:pt x="166609" y="937260"/>
                </a:lnTo>
                <a:cubicBezTo>
                  <a:pt x="74508" y="937260"/>
                  <a:pt x="0" y="862693"/>
                  <a:pt x="0" y="770520"/>
                </a:cubicBezTo>
                <a:lnTo>
                  <a:pt x="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rot="-5400000">
            <a:off x="4406900" y="2578100"/>
            <a:ext cx="996950" cy="996950"/>
          </a:xfrm>
          <a:custGeom>
            <a:avLst/>
            <a:gdLst/>
            <a:ahLst/>
            <a:cxnLst/>
            <a:rect l="l" t="t" r="r" b="b"/>
            <a:pathLst>
              <a:path w="996950" h="996950">
                <a:moveTo>
                  <a:pt x="166503" y="0"/>
                </a:moveTo>
                <a:lnTo>
                  <a:pt x="830447" y="0"/>
                </a:lnTo>
                <a:cubicBezTo>
                  <a:pt x="922489" y="0"/>
                  <a:pt x="996950" y="74461"/>
                  <a:pt x="996950" y="166503"/>
                </a:cubicBezTo>
                <a:lnTo>
                  <a:pt x="996950" y="830447"/>
                </a:lnTo>
                <a:cubicBezTo>
                  <a:pt x="996950" y="922489"/>
                  <a:pt x="922489" y="996950"/>
                  <a:pt x="830447" y="996950"/>
                </a:cubicBezTo>
                <a:lnTo>
                  <a:pt x="0" y="996950"/>
                </a:lnTo>
                <a:lnTo>
                  <a:pt x="0" y="166503"/>
                </a:lnTo>
                <a:cubicBezTo>
                  <a:pt x="0" y="74461"/>
                  <a:pt x="74461" y="0"/>
                  <a:pt x="166503" y="0"/>
                </a:cubicBez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rot="-5400000">
            <a:off x="4419600" y="5003800"/>
            <a:ext cx="956945" cy="996950"/>
          </a:xfrm>
          <a:custGeom>
            <a:avLst/>
            <a:gdLst/>
            <a:ahLst/>
            <a:cxnLst/>
            <a:rect l="l" t="t" r="r" b="b"/>
            <a:pathLst>
              <a:path w="956945" h="996950">
                <a:moveTo>
                  <a:pt x="166560" y="0"/>
                </a:moveTo>
                <a:lnTo>
                  <a:pt x="790384" y="0"/>
                </a:lnTo>
                <a:cubicBezTo>
                  <a:pt x="882458" y="0"/>
                  <a:pt x="956945" y="74461"/>
                  <a:pt x="956945" y="166503"/>
                </a:cubicBezTo>
                <a:lnTo>
                  <a:pt x="956945" y="996950"/>
                </a:lnTo>
                <a:lnTo>
                  <a:pt x="166560" y="996950"/>
                </a:lnTo>
                <a:cubicBezTo>
                  <a:pt x="74487" y="996950"/>
                  <a:pt x="0" y="922489"/>
                  <a:pt x="0" y="830447"/>
                </a:cubicBezTo>
                <a:lnTo>
                  <a:pt x="0" y="166503"/>
                </a:lnTo>
                <a:cubicBezTo>
                  <a:pt x="0" y="74461"/>
                  <a:pt x="74487" y="0"/>
                  <a:pt x="166560" y="0"/>
                </a:cubicBez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
          <a:srcRect/>
          <a:stretch>
            <a:fillRect/>
          </a:stretch>
        </p:blipFill>
        <p:spPr>
          <a:xfrm>
            <a:off x="7099300" y="5270500"/>
            <a:ext cx="431800" cy="431800"/>
          </a:xfrm>
          <a:prstGeom prst="rect">
            <a:avLst/>
          </a:prstGeom>
          <a:noFill/>
          <a:ln w="25400" cap="flat" cmpd="sng">
            <a:noFill/>
            <a:prstDash val="solid"/>
            <a:round/>
          </a:ln>
        </p:spPr>
      </p:pic>
      <p:pic>
        <p:nvPicPr>
          <p:cNvPr id="24" name="Picture 24"/>
          <p:cNvPicPr>
            <a:picLocks noChangeAspect="1"/>
          </p:cNvPicPr>
          <p:nvPr/>
        </p:nvPicPr>
        <p:blipFill>
          <a:blip r:embed="rId2"/>
          <a:srcRect/>
          <a:stretch>
            <a:fillRect/>
          </a:stretch>
        </p:blipFill>
        <p:spPr>
          <a:xfrm>
            <a:off x="7099300" y="2857500"/>
            <a:ext cx="431800" cy="431800"/>
          </a:xfrm>
          <a:prstGeom prst="rect">
            <a:avLst/>
          </a:prstGeom>
          <a:noFill/>
          <a:ln w="25400" cap="flat" cmpd="sng">
            <a:noFill/>
            <a:prstDash val="solid"/>
            <a:round/>
          </a:ln>
        </p:spPr>
      </p:pic>
      <p:pic>
        <p:nvPicPr>
          <p:cNvPr id="25" name="Picture 25"/>
          <p:cNvPicPr>
            <a:picLocks noChangeAspect="1"/>
          </p:cNvPicPr>
          <p:nvPr/>
        </p:nvPicPr>
        <p:blipFill>
          <a:blip r:embed="rId3"/>
          <a:srcRect/>
          <a:stretch>
            <a:fillRect/>
          </a:stretch>
        </p:blipFill>
        <p:spPr>
          <a:xfrm>
            <a:off x="4686300" y="5321300"/>
            <a:ext cx="393700" cy="393700"/>
          </a:xfrm>
          <a:prstGeom prst="rect">
            <a:avLst/>
          </a:prstGeom>
          <a:noFill/>
          <a:ln w="25400" cap="flat" cmpd="sng">
            <a:noFill/>
            <a:prstDash val="solid"/>
            <a:round/>
          </a:ln>
        </p:spPr>
      </p:pic>
      <p:pic>
        <p:nvPicPr>
          <p:cNvPr id="26" name="Picture 26"/>
          <p:cNvPicPr>
            <a:picLocks noChangeAspect="1"/>
          </p:cNvPicPr>
          <p:nvPr/>
        </p:nvPicPr>
        <p:blipFill>
          <a:blip r:embed="rId4"/>
          <a:srcRect/>
          <a:stretch>
            <a:fillRect/>
          </a:stretch>
        </p:blipFill>
        <p:spPr>
          <a:xfrm>
            <a:off x="4673600" y="2857500"/>
            <a:ext cx="431800" cy="431800"/>
          </a:xfrm>
          <a:prstGeom prst="rect">
            <a:avLst/>
          </a:prstGeom>
          <a:noFill/>
          <a:ln w="25400" cap="flat" cmpd="sng">
            <a:noFill/>
            <a:prstDash val="solid"/>
            <a:round/>
          </a:ln>
        </p:spPr>
      </p:pic>
      <p:sp>
        <p:nvSpPr>
          <p:cNvPr id="27" name="AutoShape 27"/>
          <p:cNvSpPr/>
          <p:nvPr/>
        </p:nvSpPr>
        <p:spPr>
          <a:xfrm rot="10800000" flipV="1">
            <a:off x="4826000" y="3787140"/>
            <a:ext cx="2540000" cy="93726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核心中枢：</a:t>
            </a:r>
            <a:endPar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浏览器</a:t>
            </a:r>
            <a:endPar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a:p>
            <a:pPr indent="0" algn="ctr">
              <a:lnSpc>
                <a:spcPct val="100000"/>
              </a:lnSpc>
              <a:defRPr/>
            </a:pPr>
            <a:r>
              <a:rPr lang="en-US" sz="1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扩展注入机制</a:t>
            </a:r>
            <a:endParaRPr lang="en-US" sz="1100"/>
          </a:p>
        </p:txBody>
      </p:sp>
      <p:sp>
        <p:nvSpPr>
          <p:cNvPr id="28" name="Freeform 28"/>
          <p:cNvSpPr/>
          <p:nvPr/>
        </p:nvSpPr>
        <p:spPr>
          <a:xfrm>
            <a:off x="622300" y="2298700"/>
            <a:ext cx="760730" cy="389255"/>
          </a:xfrm>
          <a:custGeom>
            <a:avLst/>
            <a:gdLst/>
            <a:ahLst/>
            <a:cxnLst/>
            <a:rect l="l" t="t" r="r" b="b"/>
            <a:pathLst>
              <a:path w="760730" h="389255">
                <a:moveTo>
                  <a:pt x="380628" y="0"/>
                </a:moveTo>
                <a:cubicBezTo>
                  <a:pt x="590629" y="0"/>
                  <a:pt x="760730" y="170200"/>
                  <a:pt x="760730" y="380850"/>
                </a:cubicBezTo>
                <a:lnTo>
                  <a:pt x="760730" y="389255"/>
                </a:lnTo>
                <a:lnTo>
                  <a:pt x="0" y="389255"/>
                </a:lnTo>
                <a:lnTo>
                  <a:pt x="0" y="380850"/>
                </a:lnTo>
                <a:cubicBezTo>
                  <a:pt x="0" y="170200"/>
                  <a:pt x="170101" y="0"/>
                  <a:pt x="380628" y="0"/>
                </a:cubicBezTo>
                <a:close/>
              </a:path>
            </a:pathLst>
          </a:custGeom>
          <a:solidFill>
            <a:srgbClr val="0C1B7F">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29" name="Freeform 29"/>
          <p:cNvSpPr/>
          <p:nvPr/>
        </p:nvSpPr>
        <p:spPr>
          <a:xfrm>
            <a:off x="622300" y="4826000"/>
            <a:ext cx="760730" cy="389255"/>
          </a:xfrm>
          <a:custGeom>
            <a:avLst/>
            <a:gdLst/>
            <a:ahLst/>
            <a:cxnLst/>
            <a:rect l="l" t="t" r="r" b="b"/>
            <a:pathLst>
              <a:path w="760730" h="389255">
                <a:moveTo>
                  <a:pt x="380628" y="0"/>
                </a:moveTo>
                <a:cubicBezTo>
                  <a:pt x="590629" y="0"/>
                  <a:pt x="760730" y="170200"/>
                  <a:pt x="760730" y="380850"/>
                </a:cubicBezTo>
                <a:lnTo>
                  <a:pt x="760730" y="389255"/>
                </a:lnTo>
                <a:lnTo>
                  <a:pt x="0" y="389255"/>
                </a:lnTo>
                <a:lnTo>
                  <a:pt x="0" y="380850"/>
                </a:lnTo>
                <a:cubicBezTo>
                  <a:pt x="0" y="170200"/>
                  <a:pt x="170101" y="0"/>
                  <a:pt x="380628" y="0"/>
                </a:cubicBezTo>
                <a:close/>
              </a:path>
            </a:pathLst>
          </a:custGeom>
          <a:solidFill>
            <a:srgbClr val="21AAFE">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30" name="Freeform 30"/>
          <p:cNvSpPr/>
          <p:nvPr/>
        </p:nvSpPr>
        <p:spPr>
          <a:xfrm>
            <a:off x="8534400" y="2298700"/>
            <a:ext cx="760730" cy="389255"/>
          </a:xfrm>
          <a:custGeom>
            <a:avLst/>
            <a:gdLst/>
            <a:ahLst/>
            <a:cxnLst/>
            <a:rect l="l" t="t" r="r" b="b"/>
            <a:pathLst>
              <a:path w="760730" h="389255">
                <a:moveTo>
                  <a:pt x="380628" y="0"/>
                </a:moveTo>
                <a:cubicBezTo>
                  <a:pt x="590629" y="0"/>
                  <a:pt x="760730" y="170200"/>
                  <a:pt x="760730" y="380850"/>
                </a:cubicBezTo>
                <a:lnTo>
                  <a:pt x="760730" y="389255"/>
                </a:lnTo>
                <a:lnTo>
                  <a:pt x="0" y="389255"/>
                </a:lnTo>
                <a:lnTo>
                  <a:pt x="0" y="380850"/>
                </a:lnTo>
                <a:cubicBezTo>
                  <a:pt x="0" y="170200"/>
                  <a:pt x="170101" y="0"/>
                  <a:pt x="380628" y="0"/>
                </a:cubicBezTo>
                <a:close/>
              </a:path>
            </a:pathLst>
          </a:custGeom>
          <a:solidFill>
            <a:srgbClr val="21AAFE">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31" name="Freeform 31"/>
          <p:cNvSpPr/>
          <p:nvPr/>
        </p:nvSpPr>
        <p:spPr>
          <a:xfrm>
            <a:off x="8534400" y="4826000"/>
            <a:ext cx="760730" cy="389255"/>
          </a:xfrm>
          <a:custGeom>
            <a:avLst/>
            <a:gdLst/>
            <a:ahLst/>
            <a:cxnLst/>
            <a:rect l="l" t="t" r="r" b="b"/>
            <a:pathLst>
              <a:path w="760730" h="389255">
                <a:moveTo>
                  <a:pt x="380628" y="0"/>
                </a:moveTo>
                <a:cubicBezTo>
                  <a:pt x="590629" y="0"/>
                  <a:pt x="760730" y="170200"/>
                  <a:pt x="760730" y="380850"/>
                </a:cubicBezTo>
                <a:lnTo>
                  <a:pt x="760730" y="389255"/>
                </a:lnTo>
                <a:lnTo>
                  <a:pt x="0" y="389255"/>
                </a:lnTo>
                <a:lnTo>
                  <a:pt x="0" y="380850"/>
                </a:lnTo>
                <a:cubicBezTo>
                  <a:pt x="0" y="170200"/>
                  <a:pt x="170101" y="0"/>
                  <a:pt x="380628" y="0"/>
                </a:cubicBezTo>
                <a:close/>
              </a:path>
            </a:pathLst>
          </a:custGeom>
          <a:solidFill>
            <a:srgbClr val="F9B312">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20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667000"/>
            <a:ext cx="73914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阶段性成果展示</a:t>
            </a:r>
            <a:endParaRPr lang="en-US" sz="1100"/>
          </a:p>
        </p:txBody>
      </p:sp>
      <p:sp>
        <p:nvSpPr>
          <p:cNvPr id="31" name="AutoShape 31"/>
          <p:cNvSpPr/>
          <p:nvPr/>
        </p:nvSpPr>
        <p:spPr>
          <a:xfrm>
            <a:off x="2413000" y="4191000"/>
            <a:ext cx="7366000" cy="12700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600" b="0" i="0" u="none" strike="noStrike">
                <a:solidFill>
                  <a:srgbClr val="50555F"/>
                </a:solidFill>
                <a:latin typeface="Noto Sans SC" panose="020B0200000000000000" charset="-122"/>
                <a:ea typeface="Noto Sans SC" panose="020B0200000000000000" charset="-122"/>
                <a:cs typeface="Noto Sans SC" panose="020B0200000000000000" charset="-122"/>
                <a:sym typeface="Noto Sans SC" panose="020B0200000000000000" charset="-122"/>
              </a:rPr>
              <a:t>已经取得实质性的进展</a:t>
            </a:r>
            <a:endParaRPr lang="en-US" sz="1100"/>
          </a:p>
        </p:txBody>
      </p:sp>
      <p:sp>
        <p:nvSpPr>
          <p:cNvPr id="32" name="AutoShape 32"/>
          <p:cNvSpPr/>
          <p:nvPr/>
        </p:nvSpPr>
        <p:spPr>
          <a:xfrm>
            <a:off x="609600" y="482600"/>
            <a:ext cx="1524000" cy="1016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100000"/>
              </a:lnSpc>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05</a:t>
            </a:r>
            <a:endPar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当前 Demo 核心展示</a:t>
            </a:r>
            <a:endParaRPr lang="en-US" sz="1100"/>
          </a:p>
        </p:txBody>
      </p:sp>
      <p:sp>
        <p:nvSpPr>
          <p:cNvPr id="8" name="AutoShape 8"/>
          <p:cNvSpPr/>
          <p:nvPr/>
        </p:nvSpPr>
        <p:spPr>
          <a:xfrm>
            <a:off x="596900" y="1422400"/>
            <a:ext cx="2698750" cy="2361565"/>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242C96"/>
                </a:solidFill>
                <a:latin typeface="Noto Sans SC" panose="020B0200000000000000" charset="-122"/>
                <a:ea typeface="Noto Sans SC" panose="020B0200000000000000" charset="-122"/>
                <a:cs typeface="Noto Sans SC" panose="020B0200000000000000" charset="-122"/>
                <a:sym typeface="Noto Sans SC" panose="020B0200000000000000" charset="-122"/>
              </a:rPr>
              <a:t>🔊 声音模块 Demo</a:t>
            </a:r>
            <a:endParaRPr lang="en-US" sz="1100"/>
          </a:p>
          <a:p>
            <a:pPr indent="0" algn="l">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用户下达自然语言指令（如“</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评论</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‘太精彩了’”），系统可精准解构语义并执行对应动作。</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6" name="9c0553ba519c0abf2ee21774d4710bc0">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3486150" y="1289050"/>
            <a:ext cx="8515985" cy="524192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当前 Demo 核心展示</a:t>
            </a:r>
            <a:endParaRPr lang="en-US" sz="1100"/>
          </a:p>
        </p:txBody>
      </p:sp>
      <p:sp>
        <p:nvSpPr>
          <p:cNvPr id="9" name="AutoShape 9"/>
          <p:cNvSpPr/>
          <p:nvPr/>
        </p:nvSpPr>
        <p:spPr>
          <a:xfrm>
            <a:off x="596900" y="1536700"/>
            <a:ext cx="6507480" cy="8128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800" b="0" i="0" u="none" strike="noStrike">
                <a:solidFill>
                  <a:srgbClr val="242C96"/>
                </a:solidFill>
                <a:latin typeface="Noto Sans SC" panose="020B0200000000000000" charset="-122"/>
                <a:ea typeface="Noto Sans SC" panose="020B0200000000000000" charset="-122"/>
                <a:cs typeface="Noto Sans SC" panose="020B0200000000000000" charset="-122"/>
                <a:sym typeface="Noto Sans SC" panose="020B0200000000000000" charset="-122"/>
              </a:rPr>
              <a:t>🖐️ 手势模块 Demo</a:t>
            </a:r>
            <a:endParaRPr lang="en-US" sz="1100"/>
          </a:p>
          <a:p>
            <a:pPr indent="0" algn="just">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识别手掌朝向</a:t>
            </a:r>
            <a:r>
              <a:rPr lang="en-US" sz="13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当手掌朝下时页面</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下滑</a:t>
            </a:r>
            <a:r>
              <a:rPr lang="en-US" sz="13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朝上时上滑</a:t>
            </a:r>
            <a:r>
              <a:rPr lang="en-US" sz="13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无需接触屏幕即</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just">
              <a:lnSpc>
                <a:spcPct val="117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可轻松完成操作。</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5月10日">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3536950" y="1336675"/>
            <a:ext cx="8514715" cy="484759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8"/>
                </p:tgtEl>
              </p:cMediaNode>
            </p:video>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794000"/>
            <a:ext cx="73914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讨论、挑战与后续计划</a:t>
            </a:r>
            <a:endParaRPr lang="en-US" sz="1100"/>
          </a:p>
        </p:txBody>
      </p:sp>
      <p:sp>
        <p:nvSpPr>
          <p:cNvPr id="31" name="AutoShape 31"/>
          <p:cNvSpPr/>
          <p:nvPr/>
        </p:nvSpPr>
        <p:spPr>
          <a:xfrm>
            <a:off x="2921000" y="4191000"/>
            <a:ext cx="6350000" cy="1143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600" b="0" i="0" u="none" strike="noStrike">
                <a:solidFill>
                  <a:srgbClr val="555A69"/>
                </a:solidFill>
                <a:latin typeface="Noto Sans SC" panose="020B0200000000000000" charset="-122"/>
                <a:ea typeface="Noto Sans SC" panose="020B0200000000000000" charset="-122"/>
                <a:cs typeface="Noto Sans SC" panose="020B0200000000000000" charset="-122"/>
                <a:sym typeface="Noto Sans SC" panose="020B0200000000000000" charset="-122"/>
              </a:rPr>
              <a:t>勇于面对问题并提出解决方案，体现团队的批判性思维和长远规划能力。</a:t>
            </a:r>
            <a:endParaRPr lang="en-US" sz="1100"/>
          </a:p>
        </p:txBody>
      </p:sp>
      <p:sp>
        <p:nvSpPr>
          <p:cNvPr id="32" name="AutoShape 32"/>
          <p:cNvSpPr/>
          <p:nvPr/>
        </p:nvSpPr>
        <p:spPr>
          <a:xfrm>
            <a:off x="609600" y="482600"/>
            <a:ext cx="1524000" cy="1016000"/>
          </a:xfrm>
          <a:prstGeom prst="rect">
            <a:avLst/>
          </a:prstGeom>
          <a:noFill/>
          <a:ln w="12700" cap="flat" cmpd="sng">
            <a:noFill/>
            <a:prstDash val="solid"/>
            <a:round/>
          </a:ln>
        </p:spPr>
        <p:txBody>
          <a:bodyPr vert="horz" wrap="square" lIns="0" tIns="0" rIns="0" bIns="0" rtlCol="0" anchor="t" anchorCtr="0"/>
          <a:lstStyle/>
          <a:p>
            <a:pPr indent="0" algn="l">
              <a:lnSpc>
                <a:spcPct val="92000"/>
              </a:lnSpc>
              <a:defRPr/>
            </a:pPr>
            <a:r>
              <a:rPr lang="en-US" sz="28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92000"/>
              </a:lnSpc>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06</a:t>
            </a:r>
            <a:endPar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96900" y="2971800"/>
            <a:ext cx="4813300" cy="431800"/>
          </a:xfrm>
          <a:prstGeom prst="roundRect">
            <a:avLst>
              <a:gd name="adj" fmla="val 0"/>
            </a:avLst>
          </a:prstGeom>
          <a:solidFill>
            <a:srgbClr val="0C1B7F">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挑战 1: 鲁棒性与稳定性</a:t>
            </a:r>
            <a:endParaRPr lang="en-US" sz="1100"/>
          </a:p>
        </p:txBody>
      </p:sp>
      <p:sp>
        <p:nvSpPr>
          <p:cNvPr id="7" name="AutoShape 7"/>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挑战与计划</a:t>
            </a:r>
            <a:endParaRPr lang="en-US" sz="1100"/>
          </a:p>
        </p:txBody>
      </p:sp>
      <p:sp>
        <p:nvSpPr>
          <p:cNvPr id="8" name="AutoShape 8"/>
          <p:cNvSpPr/>
          <p:nvPr/>
        </p:nvSpPr>
        <p:spPr>
          <a:xfrm>
            <a:off x="1739900" y="3543300"/>
            <a:ext cx="36322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手势识别对环境光线敏感，容易出现误判；语音识别高度依赖网络连接，断网后无法使用。</a:t>
            </a:r>
            <a:endParaRPr lang="en-US" sz="1100"/>
          </a:p>
        </p:txBody>
      </p:sp>
      <p:sp>
        <p:nvSpPr>
          <p:cNvPr id="9" name="AutoShape 9"/>
          <p:cNvSpPr/>
          <p:nvPr/>
        </p:nvSpPr>
        <p:spPr>
          <a:xfrm>
            <a:off x="7899400" y="2501900"/>
            <a:ext cx="36322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引入手势防抖算法以降低误触发率；研究并部署轻量级的离线语音识别模型，确保无网可用。</a:t>
            </a:r>
            <a:endParaRPr lang="en-US" sz="1100"/>
          </a:p>
        </p:txBody>
      </p:sp>
      <p:sp>
        <p:nvSpPr>
          <p:cNvPr id="10" name="AutoShape 10"/>
          <p:cNvSpPr/>
          <p:nvPr/>
        </p:nvSpPr>
        <p:spPr>
          <a:xfrm>
            <a:off x="1765300" y="5715000"/>
            <a:ext cx="3632200" cy="1016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当前视觉、语音、触控各模块“各自为战”，数据未互通，缺乏真正的多模态融合体验。</a:t>
            </a:r>
            <a:endParaRPr lang="en-US" sz="1100"/>
          </a:p>
        </p:txBody>
      </p:sp>
      <p:sp>
        <p:nvSpPr>
          <p:cNvPr id="11" name="AutoShape 11"/>
          <p:cNvSpPr/>
          <p:nvPr/>
        </p:nvSpPr>
        <p:spPr>
          <a:xfrm>
            <a:off x="7924800" y="4660900"/>
            <a:ext cx="36322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开发统一的“融合决策引擎”，打破模块壁垒，实现“眼动口说手确认”的复合指令协同。</a:t>
            </a:r>
            <a:endParaRPr lang="en-US" sz="1100"/>
          </a:p>
        </p:txBody>
      </p:sp>
      <p:cxnSp>
        <p:nvCxnSpPr>
          <p:cNvPr id="12" name="Connector 12"/>
          <p:cNvCxnSpPr/>
          <p:nvPr/>
        </p:nvCxnSpPr>
        <p:spPr>
          <a:xfrm rot="5373037">
            <a:off x="4470388" y="3721112"/>
            <a:ext cx="3238525" cy="12700"/>
          </a:xfrm>
          <a:prstGeom prst="line">
            <a:avLst/>
          </a:prstGeom>
          <a:solidFill>
            <a:srgbClr val="DEE0E3">
              <a:alpha val="100000"/>
            </a:srgbClr>
          </a:solidFill>
          <a:ln w="12700" cap="flat" cmpd="sng">
            <a:solidFill>
              <a:srgbClr val="0C1B7F">
                <a:alpha val="100000"/>
              </a:srgbClr>
            </a:solidFill>
            <a:prstDash val="sysDash"/>
            <a:miter lim="10000000"/>
            <a:headEnd type="none" w="med" len="med"/>
            <a:tailEnd type="none" w="med" len="med"/>
          </a:ln>
        </p:spPr>
      </p:cxnSp>
      <p:sp>
        <p:nvSpPr>
          <p:cNvPr id="13" name="AutoShape 13"/>
          <p:cNvSpPr/>
          <p:nvPr/>
        </p:nvSpPr>
        <p:spPr>
          <a:xfrm>
            <a:off x="6007100" y="2032000"/>
            <a:ext cx="139700" cy="139700"/>
          </a:xfrm>
          <a:prstGeom prst="ellipse">
            <a:avLst/>
          </a:prstGeom>
          <a:solidFill>
            <a:srgbClr val="0C1B7F">
              <a:alpha val="100000"/>
            </a:srgbClr>
          </a:solidFill>
          <a:ln w="12700" cap="flat" cmpd="sng">
            <a:solidFill>
              <a:srgbClr val="0C1B7F">
                <a:alpha val="100000"/>
              </a:srgbClr>
            </a:solidFill>
            <a:prstDash val="solid"/>
            <a:miter lim="10000000"/>
          </a:ln>
        </p:spPr>
        <p:txBody>
          <a:bodyPr vert="horz" wrap="square" lIns="63500" tIns="63500" rIns="63500" bIns="63500" rtlCol="0" anchor="ctr"/>
          <a:lstStyle/>
          <a:p>
            <a:pPr algn="ctr">
              <a:defRPr/>
            </a:pPr>
          </a:p>
        </p:txBody>
      </p:sp>
      <p:sp>
        <p:nvSpPr>
          <p:cNvPr id="14" name="AutoShape 14"/>
          <p:cNvSpPr/>
          <p:nvPr/>
        </p:nvSpPr>
        <p:spPr>
          <a:xfrm>
            <a:off x="6007100" y="5257800"/>
            <a:ext cx="139700" cy="139700"/>
          </a:xfrm>
          <a:prstGeom prst="ellipse">
            <a:avLst/>
          </a:prstGeom>
          <a:solidFill>
            <a:srgbClr val="0C1B7F">
              <a:alpha val="100000"/>
            </a:srgbClr>
          </a:solidFill>
          <a:ln w="12700" cap="flat" cmpd="sng">
            <a:solidFill>
              <a:srgbClr val="0C1B7F">
                <a:alpha val="100000"/>
              </a:srgbClr>
            </a:solidFill>
            <a:prstDash val="solid"/>
            <a:miter lim="10000000"/>
          </a:ln>
        </p:spPr>
        <p:txBody>
          <a:bodyPr vert="horz" wrap="square" lIns="63500" tIns="63500" rIns="63500" bIns="63500" rtlCol="0" anchor="ctr"/>
          <a:lstStyle/>
          <a:p>
            <a:pPr algn="ctr">
              <a:defRPr/>
            </a:pPr>
          </a:p>
        </p:txBody>
      </p:sp>
      <p:sp>
        <p:nvSpPr>
          <p:cNvPr id="15" name="AutoShape 15"/>
          <p:cNvSpPr/>
          <p:nvPr/>
        </p:nvSpPr>
        <p:spPr>
          <a:xfrm>
            <a:off x="6007100" y="4178300"/>
            <a:ext cx="139700" cy="139700"/>
          </a:xfrm>
          <a:prstGeom prst="ellipse">
            <a:avLst/>
          </a:prstGeom>
          <a:solidFill>
            <a:srgbClr val="0C1B7F">
              <a:alpha val="100000"/>
            </a:srgbClr>
          </a:solidFill>
          <a:ln w="12700" cap="flat" cmpd="sng">
            <a:solidFill>
              <a:srgbClr val="0C1B7F">
                <a:alpha val="100000"/>
              </a:srgbClr>
            </a:solidFill>
            <a:prstDash val="solid"/>
            <a:miter lim="10000000"/>
          </a:ln>
        </p:spPr>
        <p:txBody>
          <a:bodyPr vert="horz" wrap="square" lIns="63500" tIns="63500" rIns="63500" bIns="63500" rtlCol="0" anchor="ctr"/>
          <a:lstStyle/>
          <a:p>
            <a:pPr algn="ctr">
              <a:defRPr/>
            </a:pPr>
          </a:p>
        </p:txBody>
      </p:sp>
      <p:sp>
        <p:nvSpPr>
          <p:cNvPr id="16" name="AutoShape 16"/>
          <p:cNvSpPr/>
          <p:nvPr/>
        </p:nvSpPr>
        <p:spPr>
          <a:xfrm>
            <a:off x="6007100" y="3111500"/>
            <a:ext cx="139700" cy="139700"/>
          </a:xfrm>
          <a:prstGeom prst="ellipse">
            <a:avLst/>
          </a:prstGeom>
          <a:solidFill>
            <a:srgbClr val="0C1B7F">
              <a:alpha val="100000"/>
            </a:srgbClr>
          </a:solidFill>
          <a:ln w="12700" cap="flat" cmpd="sng">
            <a:solidFill>
              <a:srgbClr val="0C1B7F">
                <a:alpha val="100000"/>
              </a:srgbClr>
            </a:solidFill>
            <a:prstDash val="solid"/>
            <a:miter lim="10000000"/>
          </a:ln>
        </p:spPr>
        <p:txBody>
          <a:bodyPr vert="horz" wrap="square" lIns="63500" tIns="63500" rIns="63500" bIns="63500" rtlCol="0" anchor="ctr"/>
          <a:lstStyle/>
          <a:p>
            <a:pPr algn="ctr">
              <a:defRPr/>
            </a:pPr>
          </a:p>
        </p:txBody>
      </p:sp>
      <p:sp>
        <p:nvSpPr>
          <p:cNvPr id="17" name="AutoShape 17"/>
          <p:cNvSpPr/>
          <p:nvPr/>
        </p:nvSpPr>
        <p:spPr>
          <a:xfrm>
            <a:off x="596900" y="5156200"/>
            <a:ext cx="4813300" cy="431800"/>
          </a:xfrm>
          <a:prstGeom prst="roundRect">
            <a:avLst>
              <a:gd name="adj" fmla="val 0"/>
            </a:avLst>
          </a:prstGeom>
          <a:solidFill>
            <a:srgbClr val="21AAFE">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挑战 2: 模态间的割裂感</a:t>
            </a:r>
            <a:endParaRPr lang="en-US" sz="1100"/>
          </a:p>
        </p:txBody>
      </p:sp>
      <p:sp>
        <p:nvSpPr>
          <p:cNvPr id="18" name="AutoShape 18"/>
          <p:cNvSpPr/>
          <p:nvPr/>
        </p:nvSpPr>
        <p:spPr>
          <a:xfrm>
            <a:off x="6756400" y="1930400"/>
            <a:ext cx="4813300" cy="431800"/>
          </a:xfrm>
          <a:prstGeom prst="roundRect">
            <a:avLst>
              <a:gd name="adj" fmla="val 0"/>
            </a:avLst>
          </a:prstGeom>
          <a:solidFill>
            <a:srgbClr val="E95354">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计划 1: 提升稳定性</a:t>
            </a:r>
            <a:endParaRPr lang="en-US" sz="1100"/>
          </a:p>
        </p:txBody>
      </p:sp>
      <p:sp>
        <p:nvSpPr>
          <p:cNvPr id="19" name="AutoShape 19"/>
          <p:cNvSpPr/>
          <p:nvPr/>
        </p:nvSpPr>
        <p:spPr>
          <a:xfrm>
            <a:off x="6756400" y="4114800"/>
            <a:ext cx="4813300" cy="431800"/>
          </a:xfrm>
          <a:prstGeom prst="roundRect">
            <a:avLst>
              <a:gd name="adj" fmla="val 0"/>
            </a:avLst>
          </a:prstGeom>
          <a:solidFill>
            <a:srgbClr val="0C1B7F">
              <a:alpha val="100000"/>
            </a:srgbClr>
          </a:solidFill>
          <a:ln w="25400" cap="flat" cmpd="sng">
            <a:noFill/>
            <a:prstDash val="solid"/>
            <a:round/>
          </a:ln>
        </p:spPr>
        <p:txBody>
          <a:bodyPr vert="horz" wrap="square" lIns="76200" tIns="0" rIns="76200" bIns="0" rtlCol="0" anchor="ctr" anchorCtr="0"/>
          <a:lstStyle/>
          <a:p>
            <a:pPr indent="0" algn="l">
              <a:lnSpc>
                <a:spcPct val="100000"/>
              </a:lnSpc>
              <a:defRPr/>
            </a:pPr>
            <a:r>
              <a:rPr lang="en-US" sz="2000" b="1"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计划 2: 实现多模态协同</a:t>
            </a:r>
            <a:endParaRPr lang="en-US" sz="1100"/>
          </a:p>
        </p:txBody>
      </p:sp>
      <p:sp>
        <p:nvSpPr>
          <p:cNvPr id="20" name="Freeform 20"/>
          <p:cNvSpPr/>
          <p:nvPr/>
        </p:nvSpPr>
        <p:spPr>
          <a:xfrm flipV="1">
            <a:off x="4356100" y="1930400"/>
            <a:ext cx="1041400" cy="1041400"/>
          </a:xfrm>
          <a:custGeom>
            <a:avLst/>
            <a:gdLst/>
            <a:ahLst/>
            <a:cxnLst/>
            <a:rect l="l" t="t" r="r" b="b"/>
            <a:pathLst>
              <a:path w="1041400" h="1041400">
                <a:moveTo>
                  <a:pt x="0" y="0"/>
                </a:moveTo>
                <a:lnTo>
                  <a:pt x="1041400" y="0"/>
                </a:lnTo>
                <a:lnTo>
                  <a:pt x="1041400" y="1041400"/>
                </a:lnTo>
                <a:lnTo>
                  <a:pt x="1041046" y="1041400"/>
                </a:lnTo>
                <a:cubicBezTo>
                  <a:pt x="466113" y="1041400"/>
                  <a:pt x="0" y="575445"/>
                  <a:pt x="0" y="709"/>
                </a:cubicBezTo>
                <a:lnTo>
                  <a:pt x="0" y="0"/>
                </a:ln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flipV="1">
            <a:off x="9817100" y="39116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flipV="1">
            <a:off x="10477500" y="39116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flipV="1">
            <a:off x="11137900" y="3911600"/>
            <a:ext cx="419100" cy="209550"/>
          </a:xfrm>
          <a:custGeom>
            <a:avLst/>
            <a:gdLst/>
            <a:ahLst/>
            <a:cxnLst/>
            <a:rect l="l" t="t" r="r" b="b"/>
            <a:pathLst>
              <a:path w="419100" h="209550">
                <a:moveTo>
                  <a:pt x="419100" y="0"/>
                </a:moveTo>
                <a:lnTo>
                  <a:pt x="209450" y="209550"/>
                </a:lnTo>
                <a:lnTo>
                  <a:pt x="0" y="100"/>
                </a:lnTo>
                <a:lnTo>
                  <a:pt x="419100"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596900" y="37211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596900" y="58928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756400" y="26797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756400" y="48387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14400" y="3568700"/>
            <a:ext cx="685800" cy="4953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29" name="AutoShape 29"/>
          <p:cNvSpPr/>
          <p:nvPr/>
        </p:nvSpPr>
        <p:spPr>
          <a:xfrm>
            <a:off x="914400" y="5740400"/>
            <a:ext cx="685800" cy="4953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30" name="AutoShape 30"/>
          <p:cNvSpPr/>
          <p:nvPr/>
        </p:nvSpPr>
        <p:spPr>
          <a:xfrm>
            <a:off x="7086600" y="2527300"/>
            <a:ext cx="685800" cy="4953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31" name="AutoShape 31"/>
          <p:cNvSpPr/>
          <p:nvPr/>
        </p:nvSpPr>
        <p:spPr>
          <a:xfrm>
            <a:off x="7086600" y="4699000"/>
            <a:ext cx="685800" cy="4953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32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400300" y="2933700"/>
            <a:ext cx="7391400" cy="7366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4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团队分工</a:t>
            </a:r>
            <a:endParaRPr lang="en-US" sz="1100"/>
          </a:p>
        </p:txBody>
      </p:sp>
      <p:sp>
        <p:nvSpPr>
          <p:cNvPr id="31" name="AutoShape 31"/>
          <p:cNvSpPr/>
          <p:nvPr/>
        </p:nvSpPr>
        <p:spPr>
          <a:xfrm>
            <a:off x="3441700" y="4000500"/>
            <a:ext cx="5308600" cy="482600"/>
          </a:xfrm>
          <a:prstGeom prst="rect">
            <a:avLst/>
          </a:prstGeom>
          <a:noFill/>
          <a:ln w="12700" cap="flat" cmpd="sng">
            <a:noFill/>
            <a:prstDash val="solid"/>
            <a:round/>
          </a:ln>
        </p:spPr>
        <p:txBody>
          <a:bodyPr vert="horz" wrap="square" lIns="0" tIns="0" rIns="0" bIns="0" rtlCol="0" anchor="t" anchorCtr="0"/>
          <a:lstStyle/>
          <a:p>
            <a:pPr indent="0" algn="ctr">
              <a:lnSpc>
                <a:spcPct val="133000"/>
              </a:lnSpc>
              <a:defRPr/>
            </a:pPr>
            <a:r>
              <a:rPr lang="en-US" sz="1600" b="0" i="0" u="none" strike="noStrike">
                <a:solidFill>
                  <a:srgbClr val="0C1B7F"/>
                </a:solidFill>
                <a:latin typeface="Noto Sans SC" panose="020B0200000000000000" charset="-122"/>
                <a:ea typeface="Noto Sans SC" panose="020B0200000000000000" charset="-122"/>
                <a:cs typeface="Noto Sans SC" panose="020B0200000000000000" charset="-122"/>
                <a:sym typeface="Noto Sans SC" panose="020B0200000000000000" charset="-122"/>
              </a:rPr>
              <a:t>介绍项目团队成员及其职责分工与当前进度。</a:t>
            </a:r>
            <a:endParaRPr lang="en-US" sz="1100"/>
          </a:p>
        </p:txBody>
      </p:sp>
      <p:sp>
        <p:nvSpPr>
          <p:cNvPr id="32" name="AutoShape 32"/>
          <p:cNvSpPr/>
          <p:nvPr/>
        </p:nvSpPr>
        <p:spPr>
          <a:xfrm>
            <a:off x="609600" y="482600"/>
            <a:ext cx="1257300" cy="8636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PART</a:t>
            </a:r>
            <a:endParaRPr lang="en-US" sz="1100"/>
          </a:p>
          <a:p>
            <a:pPr indent="0" algn="l">
              <a:lnSpc>
                <a:spcPct val="100000"/>
              </a:lnSpc>
            </a:pPr>
            <a:r>
              <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07</a:t>
            </a:r>
            <a:endParaRPr lang="en-US" sz="2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flipV="1">
            <a:off x="5969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flipV="1">
            <a:off x="8890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flipV="1">
            <a:off x="1168400" y="12192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96900" y="5397500"/>
            <a:ext cx="3644900" cy="9017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3149600" y="5397500"/>
            <a:ext cx="8394700" cy="9017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596900" y="520700"/>
            <a:ext cx="10960100" cy="495300"/>
          </a:xfrm>
          <a:prstGeom prst="rect">
            <a:avLst/>
          </a:prstGeom>
          <a:noFill/>
          <a:ln w="12700" cap="flat" cmpd="sng">
            <a:noFill/>
            <a:prstDash val="solid"/>
            <a:round/>
          </a:ln>
        </p:spPr>
        <p:txBody>
          <a:bodyPr vert="horz" wrap="square" lIns="0" tIns="0" rIns="0" bIns="0" rtlCol="0" anchor="ctr" anchorCtr="0"/>
          <a:lstStyle/>
          <a:p>
            <a:pPr indent="0" algn="just">
              <a:lnSpc>
                <a:spcPct val="100000"/>
              </a:lnSpc>
              <a:defRPr/>
            </a:pPr>
            <a:r>
              <a:rPr lang="en-US" sz="32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团队分工与进度</a:t>
            </a:r>
            <a:endParaRPr lang="en-US" sz="1100"/>
          </a:p>
        </p:txBody>
      </p:sp>
      <p:sp>
        <p:nvSpPr>
          <p:cNvPr id="9" name="AutoShape 9"/>
          <p:cNvSpPr/>
          <p:nvPr/>
        </p:nvSpPr>
        <p:spPr>
          <a:xfrm rot="10800000" flipV="1">
            <a:off x="3644900" y="5588000"/>
            <a:ext cx="7785100" cy="5588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我们通过模块化分工并行推进核心技术研发，同时建立周会沟通与问题同步机制，确保各模块技术打通与项目里程碑按期达成，最大化团队协作效率。</a:t>
            </a:r>
            <a:endParaRPr lang="en-US" sz="1100"/>
          </a:p>
        </p:txBody>
      </p:sp>
      <p:sp>
        <p:nvSpPr>
          <p:cNvPr id="10" name="Freeform 10"/>
          <p:cNvSpPr/>
          <p:nvPr>
            <p:custDataLst>
              <p:tags r:id="rId1"/>
            </p:custDataLst>
          </p:nvPr>
        </p:nvSpPr>
        <p:spPr>
          <a:xfrm>
            <a:off x="9398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custDataLst>
              <p:tags r:id="rId2"/>
            </p:custDataLst>
          </p:nvPr>
        </p:nvSpPr>
        <p:spPr>
          <a:xfrm rot="10800000" flipV="1">
            <a:off x="596900" y="3975100"/>
            <a:ext cx="2286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职责：</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负责手势识别算法研究与实现。</a:t>
            </a:r>
            <a:endParaRPr lang="en-US" sz="1100"/>
          </a:p>
          <a:p>
            <a:pPr indent="0" algn="just">
              <a:lnSpc>
                <a:spcPct val="108000"/>
              </a:lnSpc>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手势追踪Demo已完成，待优化算法。</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3"/>
            </p:custDataLst>
          </p:nvPr>
        </p:nvSpPr>
        <p:spPr>
          <a:xfrm rot="10800000" flipV="1">
            <a:off x="647700" y="3530600"/>
            <a:ext cx="21590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zh-CN" alt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张昊</a:t>
            </a:r>
            <a:r>
              <a:rPr 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 手势模块</a:t>
            </a:r>
            <a:endParaRPr lang="en-US" sz="1100"/>
          </a:p>
        </p:txBody>
      </p:sp>
      <p:sp>
        <p:nvSpPr>
          <p:cNvPr id="13" name="AutoShape 13"/>
          <p:cNvSpPr/>
          <p:nvPr>
            <p:custDataLst>
              <p:tags r:id="rId4"/>
            </p:custDataLst>
          </p:nvPr>
        </p:nvSpPr>
        <p:spPr>
          <a:xfrm>
            <a:off x="10922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01</a:t>
            </a:r>
            <a:endParaRPr lang="en-US" sz="1100"/>
          </a:p>
        </p:txBody>
      </p:sp>
      <p:sp>
        <p:nvSpPr>
          <p:cNvPr id="14" name="Freeform 14"/>
          <p:cNvSpPr/>
          <p:nvPr>
            <p:custDataLst>
              <p:tags r:id="rId5"/>
            </p:custDataLst>
          </p:nvPr>
        </p:nvSpPr>
        <p:spPr>
          <a:xfrm>
            <a:off x="38989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6"/>
            </p:custDataLst>
          </p:nvPr>
        </p:nvSpPr>
        <p:spPr>
          <a:xfrm rot="10800000" flipV="1">
            <a:off x="3568700" y="3975100"/>
            <a:ext cx="2286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职责：</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负责语音识别与意图解析的集成。</a:t>
            </a:r>
            <a:endParaRPr lang="en-US" sz="1100"/>
          </a:p>
          <a:p>
            <a:pPr indent="0" algn="just">
              <a:lnSpc>
                <a:spcPct val="108000"/>
              </a:lnSpc>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语音控制Demo已完成，待丰富指令集。</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7"/>
            </p:custDataLst>
          </p:nvPr>
        </p:nvSpPr>
        <p:spPr>
          <a:xfrm rot="10800000" flipV="1">
            <a:off x="3606800" y="3530600"/>
            <a:ext cx="21590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zh-CN" alt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熊庭楷</a:t>
            </a:r>
            <a:r>
              <a:rPr 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 声音模块</a:t>
            </a:r>
            <a:endParaRPr lang="en-US" sz="1100"/>
          </a:p>
        </p:txBody>
      </p:sp>
      <p:sp>
        <p:nvSpPr>
          <p:cNvPr id="17" name="AutoShape 17"/>
          <p:cNvSpPr/>
          <p:nvPr>
            <p:custDataLst>
              <p:tags r:id="rId8"/>
            </p:custDataLst>
          </p:nvPr>
        </p:nvSpPr>
        <p:spPr>
          <a:xfrm>
            <a:off x="40513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02</a:t>
            </a:r>
            <a:endParaRPr lang="en-US" sz="1100"/>
          </a:p>
        </p:txBody>
      </p:sp>
      <p:sp>
        <p:nvSpPr>
          <p:cNvPr id="18" name="Freeform 18"/>
          <p:cNvSpPr/>
          <p:nvPr>
            <p:custDataLst>
              <p:tags r:id="rId9"/>
            </p:custDataLst>
          </p:nvPr>
        </p:nvSpPr>
        <p:spPr>
          <a:xfrm>
            <a:off x="68707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10"/>
            </p:custDataLst>
          </p:nvPr>
        </p:nvSpPr>
        <p:spPr>
          <a:xfrm rot="10800000" flipV="1">
            <a:off x="6527800" y="3975100"/>
            <a:ext cx="2286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职责：</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负责眼动追踪技术预研与集成。</a:t>
            </a:r>
            <a:endParaRPr lang="en-US" sz="1100"/>
          </a:p>
          <a:p>
            <a:pPr indent="0" algn="just">
              <a:lnSpc>
                <a:spcPct val="108000"/>
              </a:lnSpc>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技术预研</a:t>
            </a:r>
            <a:r>
              <a:rPr lang="zh-CN" alt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与原型验证</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进行中，下一步</a:t>
            </a:r>
            <a:r>
              <a:rPr lang="zh-CN" alt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构建模块</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1"/>
            </p:custDataLst>
          </p:nvPr>
        </p:nvSpPr>
        <p:spPr>
          <a:xfrm rot="10800000" flipV="1">
            <a:off x="6565900" y="3530600"/>
            <a:ext cx="21590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zh-CN" alt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林煜程</a:t>
            </a:r>
            <a:r>
              <a:rPr 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 · 眼动模块</a:t>
            </a:r>
            <a:endParaRPr lang="en-US" sz="1100"/>
          </a:p>
        </p:txBody>
      </p:sp>
      <p:sp>
        <p:nvSpPr>
          <p:cNvPr id="21" name="AutoShape 21"/>
          <p:cNvSpPr/>
          <p:nvPr>
            <p:custDataLst>
              <p:tags r:id="rId12"/>
            </p:custDataLst>
          </p:nvPr>
        </p:nvSpPr>
        <p:spPr>
          <a:xfrm>
            <a:off x="70231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03</a:t>
            </a:r>
            <a:endParaRPr lang="en-US" sz="1100"/>
          </a:p>
        </p:txBody>
      </p:sp>
      <p:sp>
        <p:nvSpPr>
          <p:cNvPr id="22" name="Freeform 22"/>
          <p:cNvSpPr/>
          <p:nvPr>
            <p:custDataLst>
              <p:tags r:id="rId13"/>
            </p:custDataLst>
          </p:nvPr>
        </p:nvSpPr>
        <p:spPr>
          <a:xfrm>
            <a:off x="9829800" y="2616200"/>
            <a:ext cx="1421765" cy="605155"/>
          </a:xfrm>
          <a:custGeom>
            <a:avLst/>
            <a:gdLst/>
            <a:ahLst/>
            <a:cxnLst/>
            <a:rect l="l" t="t" r="r" b="b"/>
            <a:pathLst>
              <a:path w="1421765" h="605155">
                <a:moveTo>
                  <a:pt x="710882" y="0"/>
                </a:moveTo>
                <a:cubicBezTo>
                  <a:pt x="1065220" y="0"/>
                  <a:pt x="1359581" y="255829"/>
                  <a:pt x="1419558" y="593007"/>
                </a:cubicBezTo>
                <a:lnTo>
                  <a:pt x="1421765" y="605155"/>
                </a:lnTo>
                <a:lnTo>
                  <a:pt x="0" y="605155"/>
                </a:lnTo>
                <a:lnTo>
                  <a:pt x="2207" y="593007"/>
                </a:lnTo>
                <a:cubicBezTo>
                  <a:pt x="62184" y="255829"/>
                  <a:pt x="356545" y="0"/>
                  <a:pt x="710882" y="0"/>
                </a:cubicBez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14"/>
            </p:custDataLst>
          </p:nvPr>
        </p:nvSpPr>
        <p:spPr>
          <a:xfrm rot="10800000" flipV="1">
            <a:off x="9486900" y="3975100"/>
            <a:ext cx="2286000" cy="1143000"/>
          </a:xfrm>
          <a:prstGeom prst="rect">
            <a:avLst/>
          </a:prstGeom>
          <a:noFill/>
          <a:ln w="12700" cap="flat" cmpd="sng">
            <a:noFill/>
            <a:prstDash val="solid"/>
            <a:round/>
          </a:ln>
        </p:spPr>
        <p:txBody>
          <a:bodyPr vert="horz" wrap="square" lIns="0" tIns="0" rIns="0" bIns="0" rtlCol="0" anchor="t" anchorCtr="0"/>
          <a:lstStyle/>
          <a:p>
            <a:pPr indent="0" algn="just">
              <a:lnSpc>
                <a:spcPct val="108000"/>
              </a:lnSpc>
              <a:defRPr/>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周会同步进度与问题，建立共享知识库。</a:t>
            </a:r>
            <a:endParaRPr lang="en-US" sz="1100"/>
          </a:p>
          <a:p>
            <a:pPr indent="0" algn="just">
              <a:lnSpc>
                <a:spcPct val="108000"/>
              </a:lnSpc>
            </a:pPr>
            <a:r>
              <a:rPr lang="en-US" sz="12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a:t>
            </a:r>
            <a:r>
              <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共同攻克技术难点，保障项目按期交付。</a:t>
            </a:r>
            <a:endParaRPr lang="en-US" sz="12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custDataLst>
              <p:tags r:id="rId15"/>
            </p:custDataLst>
          </p:nvPr>
        </p:nvSpPr>
        <p:spPr>
          <a:xfrm rot="10800000" flipV="1">
            <a:off x="9525000" y="3530600"/>
            <a:ext cx="21590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0"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团队 · 协作保障</a:t>
            </a:r>
            <a:endParaRPr lang="en-US" sz="1100"/>
          </a:p>
        </p:txBody>
      </p:sp>
      <p:sp>
        <p:nvSpPr>
          <p:cNvPr id="25" name="AutoShape 25"/>
          <p:cNvSpPr/>
          <p:nvPr>
            <p:custDataLst>
              <p:tags r:id="rId16"/>
            </p:custDataLst>
          </p:nvPr>
        </p:nvSpPr>
        <p:spPr>
          <a:xfrm>
            <a:off x="9982200" y="2794000"/>
            <a:ext cx="1117600" cy="3683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00000"/>
              </a:lnSpc>
              <a:defRPr/>
            </a:pPr>
            <a:r>
              <a:rPr lang="en-US" sz="24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04</a:t>
            </a:r>
            <a:endParaRPr lang="en-US" sz="1100"/>
          </a:p>
        </p:txBody>
      </p:sp>
      <p:sp>
        <p:nvSpPr>
          <p:cNvPr id="26" name="AutoShape 26"/>
          <p:cNvSpPr/>
          <p:nvPr/>
        </p:nvSpPr>
        <p:spPr>
          <a:xfrm rot="10800000" flipV="1">
            <a:off x="787400" y="5689600"/>
            <a:ext cx="2209800" cy="292100"/>
          </a:xfrm>
          <a:prstGeom prst="rect">
            <a:avLst/>
          </a:prstGeom>
          <a:noFill/>
          <a:ln w="12700" cap="flat" cmpd="sng">
            <a:noFill/>
            <a:prstDash val="solid"/>
            <a:round/>
          </a:ln>
        </p:spPr>
        <p:txBody>
          <a:bodyPr vert="horz" wrap="square" lIns="0" tIns="0" rIns="0" bIns="0" rtlCol="0" anchor="t" anchorCtr="0"/>
          <a:lstStyle/>
          <a:p>
            <a:pPr indent="0" algn="ctr">
              <a:lnSpc>
                <a:spcPct val="100000"/>
              </a:lnSpc>
              <a:defRPr/>
            </a:pPr>
            <a:r>
              <a:rPr lang="en-US" sz="1800" b="0" i="0" u="none" strike="noStrike">
                <a:solidFill>
                  <a:srgbClr val="FFFFF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协作与沟通</a:t>
            </a:r>
            <a:endParaRPr lang="en-US" sz="1100"/>
          </a:p>
        </p:txBody>
      </p:sp>
      <p:sp>
        <p:nvSpPr>
          <p:cNvPr id="27" name="Freeform 27"/>
          <p:cNvSpPr/>
          <p:nvPr/>
        </p:nvSpPr>
        <p:spPr>
          <a:xfrm flipV="1">
            <a:off x="5969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flipV="1">
            <a:off x="10414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flipV="1">
            <a:off x="14859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flipV="1">
            <a:off x="19812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flipV="1">
            <a:off x="24257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flipV="1">
            <a:off x="2870200" y="5257800"/>
            <a:ext cx="282015" cy="140970"/>
          </a:xfrm>
          <a:custGeom>
            <a:avLst/>
            <a:gdLst/>
            <a:ahLst/>
            <a:cxnLst/>
            <a:rect l="l" t="t" r="r" b="b"/>
            <a:pathLst>
              <a:path w="282015" h="140970">
                <a:moveTo>
                  <a:pt x="282015" y="0"/>
                </a:moveTo>
                <a:lnTo>
                  <a:pt x="140940" y="140970"/>
                </a:lnTo>
                <a:lnTo>
                  <a:pt x="0" y="67"/>
                </a:lnTo>
                <a:lnTo>
                  <a:pt x="282015"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11353800" y="5257800"/>
            <a:ext cx="203200" cy="203200"/>
          </a:xfrm>
          <a:prstGeom prst="frame">
            <a:avLst>
              <a:gd name="adj1" fmla="val 31347"/>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77800"/>
          </a:xfrm>
          <a:prstGeom prst="roundRect">
            <a:avLst>
              <a:gd name="adj" fmla="val 0"/>
            </a:avLst>
          </a:prstGeom>
          <a:solidFill>
            <a:srgbClr val="242C96">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flipV="1">
            <a:off x="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flipV="1">
            <a:off x="7112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flipV="1">
            <a:off x="1422400" y="29083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3136900"/>
            <a:ext cx="1866900" cy="1866900"/>
          </a:xfrm>
          <a:prstGeom prst="roundRect">
            <a:avLst>
              <a:gd name="adj" fmla="val 0"/>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0" y="3136900"/>
            <a:ext cx="1866265" cy="1866265"/>
          </a:xfrm>
          <a:custGeom>
            <a:avLst/>
            <a:gdLst/>
            <a:ahLst/>
            <a:cxnLst/>
            <a:rect l="l" t="t" r="r" b="b"/>
            <a:pathLst>
              <a:path w="1866265" h="1866265">
                <a:moveTo>
                  <a:pt x="0" y="1540510"/>
                </a:moveTo>
                <a:lnTo>
                  <a:pt x="325865" y="1866265"/>
                </a:lnTo>
                <a:lnTo>
                  <a:pt x="172778" y="1866265"/>
                </a:lnTo>
                <a:lnTo>
                  <a:pt x="0" y="1693545"/>
                </a:lnTo>
                <a:lnTo>
                  <a:pt x="0" y="1540510"/>
                </a:lnTo>
                <a:close/>
                <a:moveTo>
                  <a:pt x="0" y="1134110"/>
                </a:moveTo>
                <a:lnTo>
                  <a:pt x="732404" y="1866265"/>
                </a:lnTo>
                <a:lnTo>
                  <a:pt x="579952" y="1866265"/>
                </a:lnTo>
                <a:lnTo>
                  <a:pt x="0" y="1286510"/>
                </a:lnTo>
                <a:lnTo>
                  <a:pt x="0" y="1134110"/>
                </a:lnTo>
                <a:close/>
                <a:moveTo>
                  <a:pt x="0" y="727075"/>
                </a:moveTo>
                <a:lnTo>
                  <a:pt x="1139577" y="1866265"/>
                </a:lnTo>
                <a:lnTo>
                  <a:pt x="986490" y="1866265"/>
                </a:lnTo>
                <a:lnTo>
                  <a:pt x="0" y="880110"/>
                </a:lnTo>
                <a:lnTo>
                  <a:pt x="0" y="727075"/>
                </a:lnTo>
                <a:close/>
                <a:moveTo>
                  <a:pt x="0" y="320040"/>
                </a:moveTo>
                <a:lnTo>
                  <a:pt x="1546751" y="1866265"/>
                </a:lnTo>
                <a:lnTo>
                  <a:pt x="1393664" y="1866265"/>
                </a:lnTo>
                <a:lnTo>
                  <a:pt x="0" y="473075"/>
                </a:lnTo>
                <a:lnTo>
                  <a:pt x="0" y="320040"/>
                </a:lnTo>
                <a:close/>
                <a:moveTo>
                  <a:pt x="1561361" y="0"/>
                </a:moveTo>
                <a:lnTo>
                  <a:pt x="1714448" y="0"/>
                </a:lnTo>
                <a:lnTo>
                  <a:pt x="1866265" y="151765"/>
                </a:lnTo>
                <a:lnTo>
                  <a:pt x="1866265" y="304800"/>
                </a:lnTo>
                <a:lnTo>
                  <a:pt x="1561361" y="0"/>
                </a:lnTo>
                <a:close/>
                <a:moveTo>
                  <a:pt x="1154822" y="0"/>
                </a:moveTo>
                <a:lnTo>
                  <a:pt x="1307274" y="0"/>
                </a:lnTo>
                <a:lnTo>
                  <a:pt x="1866265" y="558800"/>
                </a:lnTo>
                <a:lnTo>
                  <a:pt x="1866265" y="711835"/>
                </a:lnTo>
                <a:lnTo>
                  <a:pt x="1154822" y="0"/>
                </a:lnTo>
                <a:close/>
                <a:moveTo>
                  <a:pt x="747649" y="0"/>
                </a:moveTo>
                <a:lnTo>
                  <a:pt x="900101" y="0"/>
                </a:lnTo>
                <a:lnTo>
                  <a:pt x="1866265" y="965835"/>
                </a:lnTo>
                <a:lnTo>
                  <a:pt x="1866265" y="1118235"/>
                </a:lnTo>
                <a:lnTo>
                  <a:pt x="747649" y="0"/>
                </a:lnTo>
                <a:close/>
                <a:moveTo>
                  <a:pt x="340476" y="0"/>
                </a:moveTo>
                <a:lnTo>
                  <a:pt x="493563" y="0"/>
                </a:lnTo>
                <a:lnTo>
                  <a:pt x="1866265" y="1372235"/>
                </a:lnTo>
                <a:lnTo>
                  <a:pt x="1866265" y="1525270"/>
                </a:lnTo>
                <a:lnTo>
                  <a:pt x="340476" y="0"/>
                </a:lnTo>
                <a:close/>
                <a:moveTo>
                  <a:pt x="0" y="0"/>
                </a:moveTo>
                <a:lnTo>
                  <a:pt x="86389" y="0"/>
                </a:lnTo>
                <a:lnTo>
                  <a:pt x="1866265" y="1779270"/>
                </a:lnTo>
                <a:lnTo>
                  <a:pt x="1866265" y="1866265"/>
                </a:lnTo>
                <a:lnTo>
                  <a:pt x="1800837" y="1866265"/>
                </a:lnTo>
                <a:lnTo>
                  <a:pt x="0" y="66040"/>
                </a:lnTo>
                <a:lnTo>
                  <a:pt x="0" y="0"/>
                </a:lnTo>
                <a:close/>
              </a:path>
            </a:pathLst>
          </a:cu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rot="10800000">
            <a:off x="1866900" y="4991100"/>
            <a:ext cx="1865630" cy="1866265"/>
          </a:xfrm>
          <a:custGeom>
            <a:avLst/>
            <a:gdLst/>
            <a:ahLst/>
            <a:cxnLst/>
            <a:rect l="l" t="t" r="r" b="b"/>
            <a:pathLst>
              <a:path w="1865630" h="1866265">
                <a:moveTo>
                  <a:pt x="0" y="0"/>
                </a:moveTo>
                <a:lnTo>
                  <a:pt x="1865630" y="0"/>
                </a:lnTo>
                <a:lnTo>
                  <a:pt x="1865630" y="1866265"/>
                </a:lnTo>
                <a:lnTo>
                  <a:pt x="1864995" y="1866265"/>
                </a:lnTo>
                <a:cubicBezTo>
                  <a:pt x="835025" y="1866265"/>
                  <a:pt x="0" y="1031240"/>
                  <a:pt x="0" y="1270"/>
                </a:cubicBezTo>
                <a:lnTo>
                  <a:pt x="0" y="0"/>
                </a:lnTo>
                <a:close/>
              </a:path>
            </a:pathLst>
          </a:cu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325100" y="1270000"/>
            <a:ext cx="1866900" cy="1866900"/>
          </a:xfrm>
          <a:prstGeom prst="roundRect">
            <a:avLst>
              <a:gd name="adj" fmla="val 0"/>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325100" y="1270000"/>
            <a:ext cx="1866900" cy="1866900"/>
          </a:xfrm>
          <a:prstGeom prst="frame">
            <a:avLst>
              <a:gd name="adj1" fmla="val 31552"/>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325100" y="31369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rot="10800000" flipV="1">
            <a:off x="103251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rot="10800000" flipV="1">
            <a:off x="109474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rot="10800000" flipV="1">
            <a:off x="11569700" y="43815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rot="10800000" flipV="1">
            <a:off x="103251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rot="10800000" flipV="1">
            <a:off x="109474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10800000" flipV="1">
            <a:off x="11569700" y="37592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10800000" flipV="1">
            <a:off x="103251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flipV="1">
            <a:off x="109474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rot="10800000" flipV="1">
            <a:off x="11569700" y="3136900"/>
            <a:ext cx="622300" cy="622300"/>
          </a:xfrm>
          <a:prstGeom prst="rtTriangle">
            <a:avLst/>
          </a:pr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0" y="4991100"/>
            <a:ext cx="1866900" cy="1866900"/>
          </a:xfrm>
          <a:prstGeom prst="roundRect">
            <a:avLst>
              <a:gd name="adj" fmla="val 0"/>
            </a:avLst>
          </a:prstGeom>
          <a:solidFill>
            <a:srgbClr val="0C1B7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0" y="4991100"/>
            <a:ext cx="1865781" cy="1866265"/>
          </a:xfrm>
          <a:custGeom>
            <a:avLst/>
            <a:gdLst/>
            <a:ahLst/>
            <a:cxnLst/>
            <a:rect l="l" t="t" r="r" b="b"/>
            <a:pathLst>
              <a:path w="1865781" h="1866265">
                <a:moveTo>
                  <a:pt x="0" y="0"/>
                </a:moveTo>
                <a:lnTo>
                  <a:pt x="932255" y="0"/>
                </a:lnTo>
                <a:lnTo>
                  <a:pt x="932255" y="1270"/>
                </a:lnTo>
                <a:cubicBezTo>
                  <a:pt x="932255" y="516255"/>
                  <a:pt x="1350119" y="934085"/>
                  <a:pt x="1865146" y="934085"/>
                </a:cubicBezTo>
                <a:lnTo>
                  <a:pt x="1865781" y="934085"/>
                </a:lnTo>
                <a:lnTo>
                  <a:pt x="1865781" y="1866265"/>
                </a:lnTo>
                <a:lnTo>
                  <a:pt x="1865146" y="1866265"/>
                </a:lnTo>
                <a:cubicBezTo>
                  <a:pt x="835092" y="1866265"/>
                  <a:pt x="0" y="1031240"/>
                  <a:pt x="0" y="1270"/>
                </a:cubicBezTo>
                <a:lnTo>
                  <a:pt x="0" y="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rot="10800000">
            <a:off x="10325100" y="5003800"/>
            <a:ext cx="1866900" cy="1866900"/>
          </a:xfrm>
          <a:prstGeom prst="rtTriangle">
            <a:avLst/>
          </a:prstGeom>
          <a:solidFill>
            <a:srgbClr val="E9535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flipV="1">
            <a:off x="103251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flipV="1">
            <a:off x="110363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flipV="1">
            <a:off x="11747500" y="1041400"/>
            <a:ext cx="450127" cy="225425"/>
          </a:xfrm>
          <a:custGeom>
            <a:avLst/>
            <a:gdLst/>
            <a:ahLst/>
            <a:cxnLst/>
            <a:rect l="l" t="t" r="r" b="b"/>
            <a:pathLst>
              <a:path w="450127" h="225425">
                <a:moveTo>
                  <a:pt x="450127" y="0"/>
                </a:moveTo>
                <a:lnTo>
                  <a:pt x="224955" y="225425"/>
                </a:lnTo>
                <a:lnTo>
                  <a:pt x="0" y="108"/>
                </a:lnTo>
                <a:lnTo>
                  <a:pt x="450127" y="0"/>
                </a:lnTo>
                <a:close/>
              </a:path>
            </a:pathLst>
          </a:custGeom>
          <a:solidFill>
            <a:srgbClr val="21AAFE">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flipV="1">
            <a:off x="5969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flipV="1">
            <a:off x="8890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flipV="1">
            <a:off x="1168400" y="2641600"/>
            <a:ext cx="114300" cy="114300"/>
          </a:xfrm>
          <a:prstGeom prst="ellipse">
            <a:avLst/>
          </a:prstGeom>
          <a:solidFill>
            <a:srgbClr val="F9B31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2358390" y="3030220"/>
            <a:ext cx="73914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zh-CN" altLang="en-US" sz="60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rPr>
              <a:t>谢谢大家！</a:t>
            </a:r>
            <a:endParaRPr lang="zh-CN" altLang="en-US" sz="6000" b="1" i="0" u="none" strike="noStrike">
              <a:solidFill>
                <a:srgbClr val="0C1B7F"/>
              </a:solidFill>
              <a:latin typeface="Noto Serif SC" panose="02020200000000000000" charset="-122"/>
              <a:ea typeface="Noto Serif SC" panose="02020200000000000000" charset="-122"/>
              <a:cs typeface="Noto Serif SC" panose="02020200000000000000" charset="-122"/>
              <a:sym typeface="Noto Serif SC" panose="02020200000000000000" charset="-122"/>
            </a:endParaRPr>
          </a:p>
        </p:txBody>
      </p:sp>
      <p:sp>
        <p:nvSpPr>
          <p:cNvPr id="37" name="AutoShape 33"/>
          <p:cNvSpPr/>
          <p:nvPr/>
        </p:nvSpPr>
        <p:spPr>
          <a:xfrm>
            <a:off x="596900" y="7620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05A64"/>
                </a:solidFill>
                <a:latin typeface="Noto Sans SC" panose="020B0200000000000000" charset="-122"/>
                <a:ea typeface="Noto Sans SC" panose="020B0200000000000000" charset="-122"/>
                <a:cs typeface="Noto Sans SC" panose="020B0200000000000000" charset="-122"/>
                <a:sym typeface="Noto Sans SC" panose="020B0200000000000000" charset="-122"/>
              </a:rPr>
              <a:t>HCI 期末大作业</a:t>
            </a:r>
            <a:endParaRPr lang="en-US" sz="1100"/>
          </a:p>
        </p:txBody>
      </p:sp>
      <p:sp>
        <p:nvSpPr>
          <p:cNvPr id="38" name="AutoShape 34"/>
          <p:cNvSpPr/>
          <p:nvPr/>
        </p:nvSpPr>
        <p:spPr>
          <a:xfrm>
            <a:off x="596900" y="1206500"/>
            <a:ext cx="203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505A64"/>
                </a:solidFill>
                <a:latin typeface="Noto Sans SC" panose="020B0200000000000000" charset="-122"/>
                <a:ea typeface="Noto Sans SC" panose="020B0200000000000000" charset="-122"/>
                <a:cs typeface="Noto Sans SC" panose="020B0200000000000000" charset="-122"/>
                <a:sym typeface="Noto Sans SC" panose="020B0200000000000000" charset="-122"/>
              </a:rPr>
              <a:t>开题汇报</a:t>
            </a:r>
            <a:endParaRPr lang="en-US" sz="1100"/>
          </a:p>
        </p:txBody>
      </p:sp>
    </p:spTree>
  </p:cSld>
  <p:clrMapOvr>
    <a:masterClrMapping/>
  </p:clrMapOvr>
</p:sld>
</file>

<file path=ppt/tags/tag1.xml><?xml version="1.0" encoding="utf-8"?>
<p:tagLst xmlns:p="http://schemas.openxmlformats.org/presentationml/2006/main">
  <p:tag name="KSO_WM_DIAGRAM_VIRTUALLY_FRAME" val="{&quot;height&quot;:275,&quot;left&quot;:48,&quot;top&quot;:255,&quot;width&quot;:879}"/>
</p:tagLst>
</file>

<file path=ppt/tags/tag2.xml><?xml version="1.0" encoding="utf-8"?>
<p:tagLst xmlns:p="http://schemas.openxmlformats.org/presentationml/2006/main">
  <p:tag name="KSO_WM_DIAGRAM_VIRTUALLY_FRAME" val="{&quot;height&quot;:275,&quot;left&quot;:48,&quot;top&quot;:255,&quot;width&quot;:879}"/>
</p:tagLst>
</file>

<file path=ppt/tags/tag3.xml><?xml version="1.0" encoding="utf-8"?>
<p:tagLst xmlns:p="http://schemas.openxmlformats.org/presentationml/2006/main">
  <p:tag name="KSO_WM_DIAGRAM_VIRTUALLY_FRAME" val="{&quot;height&quot;:275,&quot;left&quot;:48,&quot;top&quot;:255,&quot;width&quot;:879}"/>
</p:tagLst>
</file>

<file path=ppt/tags/tag4.xml><?xml version="1.0" encoding="utf-8"?>
<p:tagLst xmlns:p="http://schemas.openxmlformats.org/presentationml/2006/main">
  <p:tag name="KSO_WM_DIAGRAM_VIRTUALLY_FRAME" val="{&quot;height&quot;:275,&quot;left&quot;:48,&quot;top&quot;:255,&quot;width&quot;:879}"/>
</p:tagLst>
</file>

<file path=ppt/tags/tag5.xml><?xml version="1.0" encoding="utf-8"?>
<p:tagLst xmlns:p="http://schemas.openxmlformats.org/presentationml/2006/main">
  <p:tag name="KSO_WM_DIAGRAM_VIRTUALLY_FRAME" val="{&quot;height&quot;:275,&quot;left&quot;:48,&quot;top&quot;:255,&quot;width&quot;:879}"/>
</p:tagLst>
</file>

<file path=ppt/tags/tag6.xml><?xml version="1.0" encoding="utf-8"?>
<p:tagLst xmlns:p="http://schemas.openxmlformats.org/presentationml/2006/main">
  <p:tag name="KSO_WM_DIAGRAM_VIRTUALLY_FRAME" val="{&quot;height&quot;:275,&quot;left&quot;:48,&quot;top&quot;:255,&quot;width&quot;:879}"/>
</p:tagLst>
</file>

<file path=ppt/tags/tag7.xml><?xml version="1.0" encoding="utf-8"?>
<p:tagLst xmlns:p="http://schemas.openxmlformats.org/presentationml/2006/main">
  <p:tag name="KSO_WM_DIAGRAM_VIRTUALLY_FRAME" val="{&quot;height&quot;:275,&quot;left&quot;:48,&quot;top&quot;:255,&quot;width&quot;:879}"/>
</p:tagLst>
</file>

<file path=ppt/tags/tag8.xml><?xml version="1.0" encoding="utf-8"?>
<p:tagLst xmlns:p="http://schemas.openxmlformats.org/presentationml/2006/main">
  <p:tag name="KSO_WM_DIAGRAM_VIRTUALLY_FRAME" val="{&quot;height&quot;:275,&quot;left&quot;:48,&quot;top&quot;:255,&quot;width&quot;:879}"/>
</p:tagLst>
</file>

<file path=ppt/tags/tag9.xml><?xml version="1.0" encoding="utf-8"?>
<p:tagLst xmlns:p="http://schemas.openxmlformats.org/presentationml/2006/main">
  <p:tag name="KSO_WM_DIAGRAM_VIRTUALLY_FRAME" val="{&quot;height&quot;:275,&quot;left&quot;:48,&quot;top&quot;:255,&quot;width&quot;:879}"/>
</p:tagLst>
</file>

<file path=ppt/tags/tag10.xml><?xml version="1.0" encoding="utf-8"?>
<p:tagLst xmlns:p="http://schemas.openxmlformats.org/presentationml/2006/main">
  <p:tag name="KSO_WM_DIAGRAM_VIRTUALLY_FRAME" val="{&quot;height&quot;:275,&quot;left&quot;:48,&quot;top&quot;:255,&quot;width&quot;:879}"/>
</p:tagLst>
</file>

<file path=ppt/tags/tag11.xml><?xml version="1.0" encoding="utf-8"?>
<p:tagLst xmlns:p="http://schemas.openxmlformats.org/presentationml/2006/main">
  <p:tag name="KSO_WM_DIAGRAM_VIRTUALLY_FRAME" val="{&quot;height&quot;:275,&quot;left&quot;:48,&quot;top&quot;:255,&quot;width&quot;:879}"/>
</p:tagLst>
</file>

<file path=ppt/tags/tag12.xml><?xml version="1.0" encoding="utf-8"?>
<p:tagLst xmlns:p="http://schemas.openxmlformats.org/presentationml/2006/main">
  <p:tag name="KSO_WM_DIAGRAM_VIRTUALLY_FRAME" val="{&quot;height&quot;:275,&quot;left&quot;:48,&quot;top&quot;:255,&quot;width&quot;:879}"/>
</p:tagLst>
</file>

<file path=ppt/tags/tag13.xml><?xml version="1.0" encoding="utf-8"?>
<p:tagLst xmlns:p="http://schemas.openxmlformats.org/presentationml/2006/main">
  <p:tag name="KSO_WM_DIAGRAM_VIRTUALLY_FRAME" val="{&quot;height&quot;:275,&quot;left&quot;:48,&quot;top&quot;:255,&quot;width&quot;:879}"/>
</p:tagLst>
</file>

<file path=ppt/tags/tag14.xml><?xml version="1.0" encoding="utf-8"?>
<p:tagLst xmlns:p="http://schemas.openxmlformats.org/presentationml/2006/main">
  <p:tag name="KSO_WM_DIAGRAM_VIRTUALLY_FRAME" val="{&quot;height&quot;:275,&quot;left&quot;:48,&quot;top&quot;:255,&quot;width&quot;:879}"/>
</p:tagLst>
</file>

<file path=ppt/tags/tag15.xml><?xml version="1.0" encoding="utf-8"?>
<p:tagLst xmlns:p="http://schemas.openxmlformats.org/presentationml/2006/main">
  <p:tag name="KSO_WM_DIAGRAM_VIRTUALLY_FRAME" val="{&quot;height&quot;:275,&quot;left&quot;:48,&quot;top&quot;:255,&quot;width&quot;:879}"/>
</p:tagLst>
</file>

<file path=ppt/tags/tag16.xml><?xml version="1.0" encoding="utf-8"?>
<p:tagLst xmlns:p="http://schemas.openxmlformats.org/presentationml/2006/main">
  <p:tag name="KSO_WM_DIAGRAM_VIRTUALLY_FRAME" val="{&quot;height&quot;:275,&quot;left&quot;:48,&quot;top&quot;:255,&quot;width&quot;:879}"/>
</p:tagLst>
</file>

<file path=ppt/tags/tag17.xml><?xml version="1.0" encoding="utf-8"?>
<p:tagLst xmlns:p="http://schemas.openxmlformats.org/presentationml/2006/main">
  <p:tag name="KSO_WM_DIAGRAM_VIRTUALLY_FRAME" val="{&quot;height&quot;:275,&quot;left&quot;:48,&quot;top&quot;:255,&quot;width&quot;:879}"/>
</p:tagLst>
</file>

<file path=ppt/tags/tag18.xml><?xml version="1.0" encoding="utf-8"?>
<p:tagLst xmlns:p="http://schemas.openxmlformats.org/presentationml/2006/main">
  <p:tag name="KSO_WM_DIAGRAM_VIRTUALLY_FRAME" val="{&quot;height&quot;:197,&quot;left&quot;:47,&quot;top&quot;:206,&quot;width&quot;:880}"/>
</p:tagLst>
</file>

<file path=ppt/tags/tag19.xml><?xml version="1.0" encoding="utf-8"?>
<p:tagLst xmlns:p="http://schemas.openxmlformats.org/presentationml/2006/main">
  <p:tag name="KSO_WM_DIAGRAM_VIRTUALLY_FRAME" val="{&quot;height&quot;:197,&quot;left&quot;:47,&quot;top&quot;:206,&quot;width&quot;:880}"/>
</p:tagLst>
</file>

<file path=ppt/tags/tag20.xml><?xml version="1.0" encoding="utf-8"?>
<p:tagLst xmlns:p="http://schemas.openxmlformats.org/presentationml/2006/main">
  <p:tag name="KSO_WM_DIAGRAM_VIRTUALLY_FRAME" val="{&quot;height&quot;:197,&quot;left&quot;:47,&quot;top&quot;:206,&quot;width&quot;:880}"/>
</p:tagLst>
</file>

<file path=ppt/tags/tag21.xml><?xml version="1.0" encoding="utf-8"?>
<p:tagLst xmlns:p="http://schemas.openxmlformats.org/presentationml/2006/main">
  <p:tag name="KSO_WM_DIAGRAM_VIRTUALLY_FRAME" val="{&quot;height&quot;:197,&quot;left&quot;:47,&quot;top&quot;:206,&quot;width&quot;:880}"/>
</p:tagLst>
</file>

<file path=ppt/tags/tag22.xml><?xml version="1.0" encoding="utf-8"?>
<p:tagLst xmlns:p="http://schemas.openxmlformats.org/presentationml/2006/main">
  <p:tag name="KSO_WM_DIAGRAM_VIRTUALLY_FRAME" val="{&quot;height&quot;:197,&quot;left&quot;:47,&quot;top&quot;:206,&quot;width&quot;:880}"/>
</p:tagLst>
</file>

<file path=ppt/tags/tag23.xml><?xml version="1.0" encoding="utf-8"?>
<p:tagLst xmlns:p="http://schemas.openxmlformats.org/presentationml/2006/main">
  <p:tag name="KSO_WM_DIAGRAM_VIRTUALLY_FRAME" val="{&quot;height&quot;:197,&quot;left&quot;:47,&quot;top&quot;:206,&quot;width&quot;:880}"/>
</p:tagLst>
</file>

<file path=ppt/tags/tag24.xml><?xml version="1.0" encoding="utf-8"?>
<p:tagLst xmlns:p="http://schemas.openxmlformats.org/presentationml/2006/main">
  <p:tag name="KSO_WM_DIAGRAM_VIRTUALLY_FRAME" val="{&quot;height&quot;:197,&quot;left&quot;:47,&quot;top&quot;:206,&quot;width&quot;:880}"/>
</p:tagLst>
</file>

<file path=ppt/tags/tag25.xml><?xml version="1.0" encoding="utf-8"?>
<p:tagLst xmlns:p="http://schemas.openxmlformats.org/presentationml/2006/main">
  <p:tag name="KSO_WM_DIAGRAM_VIRTUALLY_FRAME" val="{&quot;height&quot;:197,&quot;left&quot;:47,&quot;top&quot;:206,&quot;width&quot;:880}"/>
</p:tagLst>
</file>

<file path=ppt/tags/tag26.xml><?xml version="1.0" encoding="utf-8"?>
<p:tagLst xmlns:p="http://schemas.openxmlformats.org/presentationml/2006/main">
  <p:tag name="KSO_WM_DIAGRAM_VIRTUALLY_FRAME" val="{&quot;height&quot;:197,&quot;left&quot;:47,&quot;top&quot;:206,&quot;width&quot;:880}"/>
</p:tagLst>
</file>

<file path=ppt/tags/tag27.xml><?xml version="1.0" encoding="utf-8"?>
<p:tagLst xmlns:p="http://schemas.openxmlformats.org/presentationml/2006/main">
  <p:tag name="KSO_WM_DIAGRAM_VIRTUALLY_FRAME" val="{&quot;height&quot;:197,&quot;left&quot;:47,&quot;top&quot;:206,&quot;width&quot;:880}"/>
</p:tagLst>
</file>

<file path=ppt/tags/tag28.xml><?xml version="1.0" encoding="utf-8"?>
<p:tagLst xmlns:p="http://schemas.openxmlformats.org/presentationml/2006/main">
  <p:tag name="KSO_WM_DIAGRAM_VIRTUALLY_FRAME" val="{&quot;height&quot;:197,&quot;left&quot;:47,&quot;top&quot;:206,&quot;width&quot;:880}"/>
</p:tagLst>
</file>

<file path=ppt/tags/tag29.xml><?xml version="1.0" encoding="utf-8"?>
<p:tagLst xmlns:p="http://schemas.openxmlformats.org/presentationml/2006/main">
  <p:tag name="KSO_WM_DIAGRAM_VIRTUALLY_FRAME" val="{&quot;height&quot;:197,&quot;left&quot;:47,&quot;top&quot;:206,&quot;width&quot;:880}"/>
</p:tagLst>
</file>

<file path=ppt/tags/tag30.xml><?xml version="1.0" encoding="utf-8"?>
<p:tagLst xmlns:p="http://schemas.openxmlformats.org/presentationml/2006/main">
  <p:tag name="KSO_WM_DIAGRAM_VIRTUALLY_FRAME" val="{&quot;height&quot;:197,&quot;left&quot;:47,&quot;top&quot;:206,&quot;width&quot;:880}"/>
</p:tagLst>
</file>

<file path=ppt/tags/tag31.xml><?xml version="1.0" encoding="utf-8"?>
<p:tagLst xmlns:p="http://schemas.openxmlformats.org/presentationml/2006/main">
  <p:tag name="KSO_WM_DIAGRAM_VIRTUALLY_FRAME" val="{&quot;height&quot;:197,&quot;left&quot;:47,&quot;top&quot;:206,&quot;width&quot;:880}"/>
</p:tagLst>
</file>

<file path=ppt/tags/tag32.xml><?xml version="1.0" encoding="utf-8"?>
<p:tagLst xmlns:p="http://schemas.openxmlformats.org/presentationml/2006/main">
  <p:tag name="KSO_WM_DIAGRAM_VIRTUALLY_FRAME" val="{&quot;height&quot;:197,&quot;left&quot;:47,&quot;top&quot;:206,&quot;width&quot;:880}"/>
</p:tagLst>
</file>

<file path=ppt/tags/tag33.xml><?xml version="1.0" encoding="utf-8"?>
<p:tagLst xmlns:p="http://schemas.openxmlformats.org/presentationml/2006/main">
  <p:tag name="KSO_WM_DIAGRAM_VIRTUALLY_FRAME" val="{&quot;height&quot;:197,&quot;left&quot;:47,&quot;top&quot;:206,&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3070</Words>
  <Application>WPS 演示</Application>
  <PresentationFormat/>
  <Paragraphs>366</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21</vt:i4>
      </vt:variant>
    </vt:vector>
  </HeadingPairs>
  <TitlesOfParts>
    <vt:vector size="32" baseType="lpstr">
      <vt:lpstr>Arial</vt:lpstr>
      <vt:lpstr>宋体</vt:lpstr>
      <vt:lpstr>Wingdings</vt:lpstr>
      <vt:lpstr>Arial</vt:lpstr>
      <vt:lpstr>Noto Serif SC</vt:lpstr>
      <vt:lpstr>Noto Sans SC</vt:lpstr>
      <vt:lpstr>微软雅黑</vt:lpstr>
      <vt:lpstr>Arial Unicode MS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misaka15135</cp:lastModifiedBy>
  <cp:revision>7</cp:revision>
  <dcterms:created xsi:type="dcterms:W3CDTF">2026-05-09T15:12:00Z</dcterms:created>
  <dcterms:modified xsi:type="dcterms:W3CDTF">2026-05-10T13:07:59Z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33608453FA314ED8BAB468DDD97A9842_13</vt:lpwstr>
  </property>
  <property fmtid="{D5CDD505-2E9C-101B-9397-08002B2CF9AE}" pid="3" name="KSOProductBuildVer">
    <vt:lpwstr>2052-12.1.0.25865</vt:lpwstr>
  </property>
</Properties>
</file>